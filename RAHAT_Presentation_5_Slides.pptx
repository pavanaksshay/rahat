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2.jpg"/><Relationship Id="rId6" Type="http://schemas.microsoft.com/office/2007/relationships/media" Target="../media/media2.mp4"/><Relationship Id="rId7" Type="http://schemas.openxmlformats.org/officeDocument/2006/relationships/video" Target="../media/media2.mp4"/><Relationship Id="rId8" Type="http://schemas.openxmlformats.org/officeDocument/2006/relationships/image" Target="../media/image13.jpg"/><Relationship Id="rId9" Type="http://schemas.microsoft.com/office/2007/relationships/media" Target="../media/media3.mp4"/><Relationship Id="rId10" Type="http://schemas.openxmlformats.org/officeDocument/2006/relationships/video" Target="../media/media3.mp4"/><Relationship Id="rId11" Type="http://schemas.openxmlformats.org/officeDocument/2006/relationships/image" Target="../media/image1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image" Target="../media/image17.jp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20.jpg"/><Relationship Id="rId8" Type="http://schemas.openxmlformats.org/officeDocument/2006/relationships/image" Target="../media/image2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5.jpg"/><Relationship Id="rId4" Type="http://schemas.openxmlformats.org/officeDocument/2006/relationships/image" Target="../media/image26.jpg"/><Relationship Id="rId5" Type="http://schemas.openxmlformats.org/officeDocument/2006/relationships/image" Target="../media/image2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2EA"/>
        </a:solidFill>
        <a:effectLst/>
      </p:bgPr>
    </p:bg>
    <p:spTree>
      <p:nvGrpSpPr>
        <p:cNvPr id="1" name=""/>
        <p:cNvGrpSpPr/>
        <p:nvPr/>
      </p:nvGrpSpPr>
      <p:grpSpPr/>
      <p:pic>
        <p:nvPicPr>
          <p:cNvPr id="2" name="Picture 1" descr="rahat_logo.jpeg"/>
          <p:cNvPicPr>
            <a:picLocks noChangeAspect="1"/>
          </p:cNvPicPr>
          <p:nvPr/>
        </p:nvPicPr>
        <p:blipFill>
          <a:blip r:embed="rId2"/>
          <a:stretch>
            <a:fillRect/>
          </a:stretch>
        </p:blipFill>
        <p:spPr>
          <a:xfrm>
            <a:off x="4723790" y="731520"/>
            <a:ext cx="2743200" cy="2743200"/>
          </a:xfrm>
          <a:prstGeom prst="rect">
            <a:avLst/>
          </a:prstGeom>
        </p:spPr>
      </p:pic>
      <p:sp>
        <p:nvSpPr>
          <p:cNvPr id="3" name="TextBox 2"/>
          <p:cNvSpPr txBox="1"/>
          <p:nvPr/>
        </p:nvSpPr>
        <p:spPr>
          <a:xfrm>
            <a:off x="914400" y="3566160"/>
            <a:ext cx="10362895" cy="2926080"/>
          </a:xfrm>
          <a:prstGeom prst="rect">
            <a:avLst/>
          </a:prstGeom>
          <a:noFill/>
        </p:spPr>
        <p:txBody>
          <a:bodyPr wrap="square" lIns="36576" rIns="36576" tIns="36576" bIns="36576">
            <a:spAutoFit/>
          </a:bodyPr>
          <a:lstStyle/>
          <a:p>
            <a:pPr algn="ctr">
              <a:spcAft>
                <a:spcPts val="800"/>
              </a:spcAft>
              <a:defRPr sz="1100" b="1">
                <a:solidFill>
                  <a:srgbClr val="646978"/>
                </a:solidFill>
                <a:latin typeface="Arial"/>
              </a:defRPr>
            </a:pPr>
            <a:r>
              <a:t>ESTABLISHED 2023  •  MIT BENGALURU</a:t>
            </a:r>
          </a:p>
          <a:p>
            <a:pPr algn="ctr">
              <a:spcAft>
                <a:spcPts val="1200"/>
              </a:spcAft>
              <a:defRPr sz="6400" b="1">
                <a:solidFill>
                  <a:srgbClr val="080D1C"/>
                </a:solidFill>
                <a:latin typeface="Georgia"/>
              </a:defRPr>
            </a:pPr>
            <a:r>
              <a:t>RAHAT</a:t>
            </a:r>
          </a:p>
          <a:p>
            <a:pPr algn="ctr">
              <a:spcAft>
                <a:spcPts val="1400"/>
              </a:spcAft>
              <a:defRPr sz="1800" i="1">
                <a:solidFill>
                  <a:srgbClr val="080D1C"/>
                </a:solidFill>
                <a:latin typeface="Georgia"/>
              </a:defRPr>
            </a:pPr>
            <a:r>
              <a:t>A student-led club and media house focused on mental well-being.</a:t>
            </a:r>
          </a:p>
          <a:p>
            <a:pPr algn="ctr">
              <a:defRPr sz="1300" b="1">
                <a:solidFill>
                  <a:srgbClr val="E7193F"/>
                </a:solidFill>
                <a:latin typeface="Arial"/>
              </a:defRPr>
            </a:pPr>
            <a:r>
              <a:t>MAKING SPACE  •  Rahat to all.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2EA"/>
        </a:solidFill>
        <a:effectLst/>
      </p:bgPr>
    </p:bg>
    <p:spTree>
      <p:nvGrpSpPr>
        <p:cNvPr id="1" name=""/>
        <p:cNvGrpSpPr/>
        <p:nvPr/>
      </p:nvGrpSpPr>
      <p:grpSpPr/>
      <p:sp>
        <p:nvSpPr>
          <p:cNvPr id="2" name="TextBox 1"/>
          <p:cNvSpPr txBox="1"/>
          <p:nvPr/>
        </p:nvSpPr>
        <p:spPr>
          <a:xfrm>
            <a:off x="731520" y="411480"/>
            <a:ext cx="7315200" cy="320040"/>
          </a:xfrm>
          <a:prstGeom prst="rect">
            <a:avLst/>
          </a:prstGeom>
          <a:noFill/>
        </p:spPr>
        <p:txBody>
          <a:bodyPr wrap="square" lIns="36576" rIns="36576" tIns="36576" bIns="36576">
            <a:spAutoFit/>
          </a:bodyPr>
          <a:lstStyle/>
          <a:p>
            <a:pPr>
              <a:defRPr sz="1000" b="1">
                <a:solidFill>
                  <a:srgbClr val="E7193F"/>
                </a:solidFill>
                <a:latin typeface="Arial"/>
              </a:defRPr>
            </a:pPr>
            <a:r>
              <a:t>—  ACT I — MAKING SPACE</a:t>
            </a:r>
          </a:p>
        </p:txBody>
      </p:sp>
      <p:pic>
        <p:nvPicPr>
          <p:cNvPr id="3" name="Picture 2" descr="rahat_booth_students_01.jpeg"/>
          <p:cNvPicPr>
            <a:picLocks noChangeAspect="1"/>
          </p:cNvPicPr>
          <p:nvPr/>
        </p:nvPicPr>
        <p:blipFill>
          <a:blip r:embed="rId2"/>
          <a:stretch>
            <a:fillRect/>
          </a:stretch>
        </p:blipFill>
        <p:spPr>
          <a:xfrm>
            <a:off x="731520" y="914400"/>
            <a:ext cx="3291840" cy="5303520"/>
          </a:xfrm>
          <a:prstGeom prst="rect">
            <a:avLst/>
          </a:prstGeom>
        </p:spPr>
      </p:pic>
      <p:pic>
        <p:nvPicPr>
          <p:cNvPr id="4" name="Picture 3" descr="classroom_talk.jpeg"/>
          <p:cNvPicPr>
            <a:picLocks noChangeAspect="1"/>
          </p:cNvPicPr>
          <p:nvPr/>
        </p:nvPicPr>
        <p:blipFill>
          <a:blip r:embed="rId3"/>
          <a:stretch>
            <a:fillRect/>
          </a:stretch>
        </p:blipFill>
        <p:spPr>
          <a:xfrm>
            <a:off x="4160520" y="914400"/>
            <a:ext cx="2194560" cy="5303520"/>
          </a:xfrm>
          <a:prstGeom prst="rect">
            <a:avLst/>
          </a:prstGeom>
        </p:spPr>
      </p:pic>
      <p:sp>
        <p:nvSpPr>
          <p:cNvPr id="5" name="TextBox 4"/>
          <p:cNvSpPr txBox="1"/>
          <p:nvPr/>
        </p:nvSpPr>
        <p:spPr>
          <a:xfrm>
            <a:off x="6720840" y="1188720"/>
            <a:ext cx="4754880" cy="4937760"/>
          </a:xfrm>
          <a:prstGeom prst="rect">
            <a:avLst/>
          </a:prstGeom>
          <a:noFill/>
        </p:spPr>
        <p:txBody>
          <a:bodyPr wrap="square" lIns="36576" rIns="36576" tIns="36576" bIns="36576">
            <a:spAutoFit/>
          </a:bodyPr>
          <a:lstStyle/>
          <a:p>
            <a:pPr>
              <a:spcAft>
                <a:spcPts val="1200"/>
              </a:spcAft>
              <a:defRPr sz="1100" b="1">
                <a:solidFill>
                  <a:srgbClr val="E7193F"/>
                </a:solidFill>
                <a:latin typeface="Arial"/>
              </a:defRPr>
            </a:pPr>
            <a:r>
              <a:t>THE PREMISE</a:t>
            </a:r>
          </a:p>
          <a:p>
            <a:pPr>
              <a:spcAft>
                <a:spcPts val="1800"/>
              </a:spcAft>
              <a:defRPr sz="3600" b="1">
                <a:solidFill>
                  <a:srgbClr val="080D1C"/>
                </a:solidFill>
                <a:latin typeface="Georgia"/>
              </a:defRPr>
            </a:pPr>
            <a:r>
              <a:t>What does feeling okay look like?</a:t>
            </a:r>
          </a:p>
          <a:p>
            <a:pPr>
              <a:spcAft>
                <a:spcPts val="1800"/>
              </a:spcAft>
              <a:defRPr sz="2000" i="1">
                <a:solidFill>
                  <a:srgbClr val="080D1C"/>
                </a:solidFill>
                <a:latin typeface="Georgia"/>
              </a:defRPr>
            </a:pPr>
            <a:r>
              <a:t>“Sometimes, it doesn’t look like a formal conversation about mental health.”</a:t>
            </a:r>
          </a:p>
          <a:p>
            <a:pPr>
              <a:defRPr sz="1800" b="1">
                <a:solidFill>
                  <a:srgbClr val="E7193F"/>
                </a:solidFill>
                <a:latin typeface="Arial"/>
              </a:defRPr>
            </a:pPr>
            <a:r>
              <a:t>Sometimes, it simply looks like finding a space to be.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2EA"/>
        </a:solidFill>
        <a:effectLst/>
      </p:bgPr>
    </p:bg>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36576" rIns="36576" tIns="36576" bIns="36576">
            <a:spAutoFit/>
          </a:bodyPr>
          <a:lstStyle/>
          <a:p>
            <a:pPr>
              <a:defRPr sz="1000" b="1">
                <a:solidFill>
                  <a:srgbClr val="E7193F"/>
                </a:solidFill>
                <a:latin typeface="Arial"/>
              </a:defRPr>
            </a:pPr>
            <a:r>
              <a:t>—  ACT I — PURPOSE &amp; COMMUNITY</a:t>
            </a:r>
          </a:p>
        </p:txBody>
      </p:sp>
      <p:sp>
        <p:nvSpPr>
          <p:cNvPr id="3" name="TextBox 2"/>
          <p:cNvSpPr txBox="1"/>
          <p:nvPr/>
        </p:nvSpPr>
        <p:spPr>
          <a:xfrm>
            <a:off x="731520" y="658368"/>
            <a:ext cx="10698480" cy="548640"/>
          </a:xfrm>
          <a:prstGeom prst="rect">
            <a:avLst/>
          </a:prstGeom>
          <a:noFill/>
        </p:spPr>
        <p:txBody>
          <a:bodyPr wrap="square" lIns="36576" rIns="36576" tIns="36576" bIns="36576">
            <a:spAutoFit/>
          </a:bodyPr>
          <a:lstStyle/>
          <a:p>
            <a:pPr>
              <a:defRPr sz="2400" b="1">
                <a:solidFill>
                  <a:srgbClr val="080D1C"/>
                </a:solidFill>
                <a:latin typeface="Georgia"/>
              </a:defRPr>
            </a:pPr>
            <a:r>
              <a:t>WHY JOIN RAHAT?</a:t>
            </a:r>
          </a:p>
        </p:txBody>
      </p:sp>
      <p:sp>
        <p:nvSpPr>
          <p:cNvPr id="4" name="Rounded Rectangle 3"/>
          <p:cNvSpPr/>
          <p:nvPr/>
        </p:nvSpPr>
        <p:spPr>
          <a:xfrm>
            <a:off x="731520" y="1207008"/>
            <a:ext cx="5943600" cy="109728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261872"/>
            <a:ext cx="5669280" cy="987552"/>
          </a:xfrm>
          <a:prstGeom prst="rect">
            <a:avLst/>
          </a:prstGeom>
          <a:noFill/>
        </p:spPr>
        <p:txBody>
          <a:bodyPr wrap="square" lIns="36576" rIns="36576" tIns="36576" bIns="36576">
            <a:spAutoFit/>
          </a:bodyPr>
          <a:lstStyle/>
          <a:p>
            <a:pPr>
              <a:spcAft>
                <a:spcPts val="200"/>
              </a:spcAft>
              <a:defRPr sz="1150" b="1">
                <a:solidFill>
                  <a:srgbClr val="080D1C"/>
                </a:solidFill>
                <a:latin typeface="Arial"/>
              </a:defRPr>
            </a:pPr>
            <a:r>
              <a:t>01  •  A Judgement-Free Sanctuary &amp; Emotional Safe Space</a:t>
            </a:r>
          </a:p>
          <a:p>
            <a:pPr>
              <a:defRPr sz="900">
                <a:solidFill>
                  <a:srgbClr val="646978"/>
                </a:solidFill>
                <a:latin typeface="Arial"/>
              </a:defRPr>
            </a:pPr>
            <a:r>
              <a:t>A comforting campus haven with zero hierarchy, academic competition, or burnout pressure. Step in as your authentic self to decompress, share unspoken thoughts, participate in open peer circles, and find sincere emotional reassurance.</a:t>
            </a:r>
          </a:p>
        </p:txBody>
      </p:sp>
      <p:sp>
        <p:nvSpPr>
          <p:cNvPr id="6" name="Rounded Rectangle 5"/>
          <p:cNvSpPr/>
          <p:nvPr/>
        </p:nvSpPr>
        <p:spPr>
          <a:xfrm>
            <a:off x="731520" y="2359152"/>
            <a:ext cx="5943600" cy="109728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14016"/>
            <a:ext cx="5669280" cy="987552"/>
          </a:xfrm>
          <a:prstGeom prst="rect">
            <a:avLst/>
          </a:prstGeom>
          <a:noFill/>
        </p:spPr>
        <p:txBody>
          <a:bodyPr wrap="square" lIns="36576" rIns="36576" tIns="36576" bIns="36576">
            <a:spAutoFit/>
          </a:bodyPr>
          <a:lstStyle/>
          <a:p>
            <a:pPr>
              <a:spcAft>
                <a:spcPts val="200"/>
              </a:spcAft>
              <a:defRPr sz="1150" b="1">
                <a:solidFill>
                  <a:srgbClr val="080D1C"/>
                </a:solidFill>
                <a:latin typeface="Arial"/>
              </a:defRPr>
            </a:pPr>
            <a:r>
              <a:t>02  •  Creative &amp; Media House Leadership</a:t>
            </a:r>
          </a:p>
          <a:p>
            <a:pPr>
              <a:defRPr sz="900">
                <a:solidFill>
                  <a:srgbClr val="646978"/>
                </a:solidFill>
                <a:latin typeface="Arial"/>
              </a:defRPr>
            </a:pPr>
            <a:r>
              <a:t>Direct student podcast series, curate documentary and indie film screenings, shoot visual storytelling campaigns, design editorial brand identities, and publish impactful multimedia narratives that spark real campus-wide dialogue.</a:t>
            </a:r>
          </a:p>
        </p:txBody>
      </p:sp>
      <p:sp>
        <p:nvSpPr>
          <p:cNvPr id="8" name="Rounded Rectangle 7"/>
          <p:cNvSpPr/>
          <p:nvPr/>
        </p:nvSpPr>
        <p:spPr>
          <a:xfrm>
            <a:off x="731520" y="3511296"/>
            <a:ext cx="5943600" cy="109728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566160"/>
            <a:ext cx="5669280" cy="987552"/>
          </a:xfrm>
          <a:prstGeom prst="rect">
            <a:avLst/>
          </a:prstGeom>
          <a:noFill/>
        </p:spPr>
        <p:txBody>
          <a:bodyPr wrap="square" lIns="36576" rIns="36576" tIns="36576" bIns="36576">
            <a:spAutoFit/>
          </a:bodyPr>
          <a:lstStyle/>
          <a:p>
            <a:pPr>
              <a:spcAft>
                <a:spcPts val="200"/>
              </a:spcAft>
              <a:defRPr sz="1150" b="1">
                <a:solidFill>
                  <a:srgbClr val="080D1C"/>
                </a:solidFill>
                <a:latin typeface="Arial"/>
              </a:defRPr>
            </a:pPr>
            <a:r>
              <a:t>03  •  Hands-On Flagship Campus Event Production</a:t>
            </a:r>
          </a:p>
          <a:p>
            <a:pPr>
              <a:defRPr sz="900">
                <a:solidFill>
                  <a:srgbClr val="646978"/>
                </a:solidFill>
                <a:latin typeface="Arial"/>
              </a:defRPr>
            </a:pPr>
            <a:r>
              <a:t>Gain invaluable leadership and production experience organizing 700+ attendee auditorium events, open-air interactive art workshops, mental wellness carnivals, immersive theatrical showcases, and high-energy college fests.</a:t>
            </a:r>
          </a:p>
        </p:txBody>
      </p:sp>
      <p:sp>
        <p:nvSpPr>
          <p:cNvPr id="10" name="Rounded Rectangle 9"/>
          <p:cNvSpPr/>
          <p:nvPr/>
        </p:nvSpPr>
        <p:spPr>
          <a:xfrm>
            <a:off x="731520" y="4663440"/>
            <a:ext cx="5943600" cy="1097280"/>
          </a:xfrm>
          <a:prstGeom prst="roundRect">
            <a:avLst/>
          </a:prstGeom>
          <a:solidFill>
            <a:srgbClr val="FFFFFF"/>
          </a:solidFill>
          <a:ln>
            <a:solidFill>
              <a:srgbClr val="E7193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718304"/>
            <a:ext cx="5669280" cy="987552"/>
          </a:xfrm>
          <a:prstGeom prst="rect">
            <a:avLst/>
          </a:prstGeom>
          <a:noFill/>
        </p:spPr>
        <p:txBody>
          <a:bodyPr wrap="square" lIns="36576" rIns="36576" tIns="36576" bIns="36576">
            <a:spAutoFit/>
          </a:bodyPr>
          <a:lstStyle/>
          <a:p>
            <a:pPr>
              <a:spcAft>
                <a:spcPts val="200"/>
              </a:spcAft>
              <a:defRPr sz="1150" b="1">
                <a:solidFill>
                  <a:srgbClr val="E7193F"/>
                </a:solidFill>
                <a:latin typeface="Arial"/>
              </a:defRPr>
            </a:pPr>
            <a:r>
              <a:t>04  •  Deep, Lifelong Compassionate Peer Network</a:t>
            </a:r>
          </a:p>
          <a:p>
            <a:pPr>
              <a:defRPr sz="900">
                <a:solidFill>
                  <a:srgbClr val="646978"/>
                </a:solidFill>
                <a:latin typeface="Arial"/>
              </a:defRPr>
            </a:pPr>
            <a:r>
              <a:t>Build enduring bonds with a thoughtful, uplifting collective of peers across departments and years who actively support one another, listen without judgment, celebrate individuality, and turn empathy into daily campus culture.</a:t>
            </a:r>
          </a:p>
        </p:txBody>
      </p:sp>
      <p:pic>
        <p:nvPicPr>
          <p:cNvPr id="12" name="Picture 11" descr="techsolstice_nexus_group_activity.jpeg"/>
          <p:cNvPicPr>
            <a:picLocks noChangeAspect="1"/>
          </p:cNvPicPr>
          <p:nvPr/>
        </p:nvPicPr>
        <p:blipFill>
          <a:blip r:embed="rId2"/>
          <a:stretch>
            <a:fillRect/>
          </a:stretch>
        </p:blipFill>
        <p:spPr>
          <a:xfrm>
            <a:off x="6903720" y="1207008"/>
            <a:ext cx="4526280" cy="4572000"/>
          </a:xfrm>
          <a:prstGeom prst="rect">
            <a:avLst/>
          </a:prstGeom>
        </p:spPr>
      </p:pic>
      <p:sp>
        <p:nvSpPr>
          <p:cNvPr id="13" name="TextBox 12"/>
          <p:cNvSpPr txBox="1"/>
          <p:nvPr/>
        </p:nvSpPr>
        <p:spPr>
          <a:xfrm>
            <a:off x="731520" y="5943600"/>
            <a:ext cx="10698480" cy="411480"/>
          </a:xfrm>
          <a:prstGeom prst="rect">
            <a:avLst/>
          </a:prstGeom>
          <a:noFill/>
        </p:spPr>
        <p:txBody>
          <a:bodyPr wrap="square" lIns="36576" rIns="36576" tIns="36576" bIns="36576">
            <a:spAutoFit/>
          </a:bodyPr>
          <a:lstStyle/>
          <a:p>
            <a:pPr algn="ctr">
              <a:defRPr sz="1000" b="1">
                <a:solidFill>
                  <a:srgbClr val="E7193F"/>
                </a:solidFill>
                <a:latin typeface="Arial"/>
              </a:defRPr>
            </a:pPr>
            <a:r>
              <a:t>“YOU DON’T JUST JOIN A CLUB — YOU HELP BUILD A SPACE WHERE EVERYONE CAN BREATHE.”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2EA"/>
        </a:solidFill>
        <a:effectLst/>
      </p:bgPr>
    </p:bg>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36576" rIns="36576" tIns="36576" bIns="36576">
            <a:spAutoFit/>
          </a:bodyPr>
          <a:lstStyle/>
          <a:p>
            <a:pPr>
              <a:defRPr sz="1000" b="1">
                <a:solidFill>
                  <a:srgbClr val="E7193F"/>
                </a:solidFill>
                <a:latin typeface="Arial"/>
              </a:defRPr>
            </a:pPr>
            <a:r>
              <a:t>—  ACT II — EVOLUTION OF IDENTITY</a:t>
            </a:r>
          </a:p>
        </p:txBody>
      </p:sp>
      <p:sp>
        <p:nvSpPr>
          <p:cNvPr id="3" name="TextBox 2"/>
          <p:cNvSpPr txBox="1"/>
          <p:nvPr/>
        </p:nvSpPr>
        <p:spPr>
          <a:xfrm>
            <a:off x="731520" y="685800"/>
            <a:ext cx="10698480" cy="502920"/>
          </a:xfrm>
          <a:prstGeom prst="rect">
            <a:avLst/>
          </a:prstGeom>
          <a:noFill/>
        </p:spPr>
        <p:txBody>
          <a:bodyPr wrap="square" lIns="36576" rIns="36576" tIns="36576" bIns="36576">
            <a:spAutoFit/>
          </a:bodyPr>
          <a:lstStyle/>
          <a:p>
            <a:pPr>
              <a:defRPr sz="2400" b="1">
                <a:solidFill>
                  <a:srgbClr val="080D1C"/>
                </a:solidFill>
                <a:latin typeface="Georgia"/>
              </a:defRPr>
            </a:pPr>
            <a:r>
              <a:t>FROM WHERE WE STARTED  ➔  TO WHERE WE ARE GOING</a:t>
            </a:r>
          </a:p>
        </p:txBody>
      </p:sp>
      <p:sp>
        <p:nvSpPr>
          <p:cNvPr id="4" name="Rounded Rectangle 3"/>
          <p:cNvSpPr/>
          <p:nvPr/>
        </p:nvSpPr>
        <p:spPr>
          <a:xfrm>
            <a:off x="731520" y="1280160"/>
            <a:ext cx="4663440" cy="411480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4663440" cy="320040"/>
          </a:xfrm>
          <a:prstGeom prst="rect">
            <a:avLst/>
          </a:prstGeom>
          <a:noFill/>
        </p:spPr>
        <p:txBody>
          <a:bodyPr wrap="square" lIns="36576" rIns="36576" tIns="36576" bIns="36576">
            <a:spAutoFit/>
          </a:bodyPr>
          <a:lstStyle/>
          <a:p>
            <a:pPr algn="ctr">
              <a:defRPr sz="1100" b="1">
                <a:solidFill>
                  <a:srgbClr val="646978"/>
                </a:solidFill>
                <a:latin typeface="Arial"/>
              </a:defRPr>
            </a:pPr>
            <a:r>
              <a:t>THEN  •  THE FOUNDATION (ESTD. 2023)</a:t>
            </a:r>
          </a:p>
        </p:txBody>
      </p:sp>
      <p:pic>
        <p:nvPicPr>
          <p:cNvPr id="6" name="Picture 5" descr="rahat_old_logo.jpeg"/>
          <p:cNvPicPr>
            <a:picLocks noChangeAspect="1"/>
          </p:cNvPicPr>
          <p:nvPr/>
        </p:nvPicPr>
        <p:blipFill>
          <a:blip r:embed="rId2"/>
          <a:stretch>
            <a:fillRect/>
          </a:stretch>
        </p:blipFill>
        <p:spPr>
          <a:xfrm>
            <a:off x="1463040" y="1737360"/>
            <a:ext cx="3200400" cy="3200400"/>
          </a:xfrm>
          <a:prstGeom prst="rect">
            <a:avLst/>
          </a:prstGeom>
        </p:spPr>
      </p:pic>
      <p:sp>
        <p:nvSpPr>
          <p:cNvPr id="7" name="TextBox 6"/>
          <p:cNvSpPr txBox="1"/>
          <p:nvPr/>
        </p:nvSpPr>
        <p:spPr>
          <a:xfrm>
            <a:off x="731520" y="5029200"/>
            <a:ext cx="4663440" cy="320040"/>
          </a:xfrm>
          <a:prstGeom prst="rect">
            <a:avLst/>
          </a:prstGeom>
          <a:noFill/>
        </p:spPr>
        <p:txBody>
          <a:bodyPr wrap="square" lIns="36576" rIns="36576" tIns="36576" bIns="36576">
            <a:spAutoFit/>
          </a:bodyPr>
          <a:lstStyle/>
          <a:p>
            <a:pPr algn="ctr">
              <a:defRPr sz="1100" b="1">
                <a:solidFill>
                  <a:srgbClr val="080D1C"/>
                </a:solidFill>
                <a:latin typeface="Arial"/>
              </a:defRPr>
            </a:pPr>
            <a:r>
              <a:t>STUDENT WELL-BEING COMMUNITY</a:t>
            </a:r>
          </a:p>
        </p:txBody>
      </p:sp>
      <p:sp>
        <p:nvSpPr>
          <p:cNvPr id="8" name="TextBox 7"/>
          <p:cNvSpPr txBox="1"/>
          <p:nvPr/>
        </p:nvSpPr>
        <p:spPr>
          <a:xfrm>
            <a:off x="5394960" y="2743200"/>
            <a:ext cx="1371600" cy="1097280"/>
          </a:xfrm>
          <a:prstGeom prst="rect">
            <a:avLst/>
          </a:prstGeom>
          <a:noFill/>
        </p:spPr>
        <p:txBody>
          <a:bodyPr wrap="square" lIns="36576" rIns="36576" tIns="36576" bIns="36576">
            <a:spAutoFit/>
          </a:bodyPr>
          <a:lstStyle/>
          <a:p>
            <a:pPr algn="ctr">
              <a:defRPr sz="3600">
                <a:solidFill>
                  <a:srgbClr val="E7193F"/>
                </a:solidFill>
                <a:latin typeface="Arial"/>
              </a:defRPr>
            </a:pPr>
            <a:r>
              <a:t>➔</a:t>
            </a:r>
          </a:p>
          <a:p>
            <a:pPr algn="ctr">
              <a:defRPr sz="900" b="1">
                <a:solidFill>
                  <a:srgbClr val="E7193F"/>
                </a:solidFill>
                <a:latin typeface="Arial"/>
              </a:defRPr>
            </a:pPr>
            <a:r>
              <a:t>EXPANSION</a:t>
            </a:r>
          </a:p>
        </p:txBody>
      </p:sp>
      <p:sp>
        <p:nvSpPr>
          <p:cNvPr id="9" name="Rounded Rectangle 8"/>
          <p:cNvSpPr/>
          <p:nvPr/>
        </p:nvSpPr>
        <p:spPr>
          <a:xfrm>
            <a:off x="6796735" y="1280160"/>
            <a:ext cx="4663440" cy="4114800"/>
          </a:xfrm>
          <a:prstGeom prst="roundRect">
            <a:avLst/>
          </a:prstGeom>
          <a:solidFill>
            <a:srgbClr val="FFFFFF"/>
          </a:solidFill>
          <a:ln>
            <a:solidFill>
              <a:srgbClr val="E7193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96735" y="1371600"/>
            <a:ext cx="4663440" cy="320040"/>
          </a:xfrm>
          <a:prstGeom prst="rect">
            <a:avLst/>
          </a:prstGeom>
          <a:noFill/>
        </p:spPr>
        <p:txBody>
          <a:bodyPr wrap="square" lIns="36576" rIns="36576" tIns="36576" bIns="36576">
            <a:spAutoFit/>
          </a:bodyPr>
          <a:lstStyle/>
          <a:p>
            <a:pPr algn="ctr">
              <a:defRPr sz="1100" b="1">
                <a:solidFill>
                  <a:srgbClr val="E7193F"/>
                </a:solidFill>
                <a:latin typeface="Arial"/>
              </a:defRPr>
            </a:pPr>
            <a:r>
              <a:t>NOW  •  THE NEW CHAPTER</a:t>
            </a:r>
          </a:p>
        </p:txBody>
      </p:sp>
      <p:pic>
        <p:nvPicPr>
          <p:cNvPr id="11" name="Picture 10" descr="rahat_logo.jpeg"/>
          <p:cNvPicPr>
            <a:picLocks noChangeAspect="1"/>
          </p:cNvPicPr>
          <p:nvPr/>
        </p:nvPicPr>
        <p:blipFill>
          <a:blip r:embed="rId3"/>
          <a:stretch>
            <a:fillRect/>
          </a:stretch>
        </p:blipFill>
        <p:spPr>
          <a:xfrm>
            <a:off x="7528255" y="1737360"/>
            <a:ext cx="3200400" cy="3200400"/>
          </a:xfrm>
          <a:prstGeom prst="rect">
            <a:avLst/>
          </a:prstGeom>
        </p:spPr>
      </p:pic>
      <p:sp>
        <p:nvSpPr>
          <p:cNvPr id="12" name="TextBox 11"/>
          <p:cNvSpPr txBox="1"/>
          <p:nvPr/>
        </p:nvSpPr>
        <p:spPr>
          <a:xfrm>
            <a:off x="6796735" y="5029200"/>
            <a:ext cx="4663440" cy="320040"/>
          </a:xfrm>
          <a:prstGeom prst="rect">
            <a:avLst/>
          </a:prstGeom>
          <a:noFill/>
        </p:spPr>
        <p:txBody>
          <a:bodyPr wrap="square" lIns="36576" rIns="36576" tIns="36576" bIns="36576">
            <a:spAutoFit/>
          </a:bodyPr>
          <a:lstStyle/>
          <a:p>
            <a:pPr algn="ctr">
              <a:defRPr sz="1100" b="1">
                <a:solidFill>
                  <a:srgbClr val="E7193F"/>
                </a:solidFill>
                <a:latin typeface="Arial"/>
              </a:defRPr>
            </a:pPr>
            <a:r>
              <a:t>STUDENT CLUB &amp; MEDIA HOUSE</a:t>
            </a:r>
          </a:p>
        </p:txBody>
      </p:sp>
      <p:sp>
        <p:nvSpPr>
          <p:cNvPr id="13" name="TextBox 12"/>
          <p:cNvSpPr txBox="1"/>
          <p:nvPr/>
        </p:nvSpPr>
        <p:spPr>
          <a:xfrm>
            <a:off x="731520" y="5532120"/>
            <a:ext cx="10698480" cy="1005840"/>
          </a:xfrm>
          <a:prstGeom prst="rect">
            <a:avLst/>
          </a:prstGeom>
          <a:noFill/>
        </p:spPr>
        <p:txBody>
          <a:bodyPr wrap="square" lIns="36576" rIns="36576" tIns="36576" bIns="36576">
            <a:spAutoFit/>
          </a:bodyPr>
          <a:lstStyle/>
          <a:p>
            <a:pPr algn="ctr">
              <a:defRPr sz="1900" b="1">
                <a:solidFill>
                  <a:srgbClr val="080D1C"/>
                </a:solidFill>
                <a:latin typeface="Georgia"/>
              </a:defRPr>
            </a:pPr>
            <a:r>
              <a:t>“Same purpose. A wider canvas.”</a:t>
            </a:r>
          </a:p>
          <a:p>
            <a:pPr algn="ctr">
              <a:defRPr sz="1300" i="1">
                <a:solidFill>
                  <a:srgbClr val="646978"/>
                </a:solidFill>
                <a:latin typeface="Georgia"/>
              </a:defRPr>
            </a:pPr>
            <a:r>
              <a:t>From a student-led mental well-being community to a space for conversations, creativity, connection and stories that matter.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2EA"/>
        </a:solidFill>
        <a:effectLst/>
      </p:bgPr>
    </p:bg>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36576" rIns="36576" tIns="36576" bIns="36576">
            <a:spAutoFit/>
          </a:bodyPr>
          <a:lstStyle/>
          <a:p>
            <a:pPr>
              <a:defRPr sz="1000" b="1">
                <a:solidFill>
                  <a:srgbClr val="E7193F"/>
                </a:solidFill>
                <a:latin typeface="Arial"/>
              </a:defRPr>
            </a:pPr>
            <a:r>
              <a:t>—  ACT II — WHAT WE HAVE BUILT</a:t>
            </a:r>
          </a:p>
        </p:txBody>
      </p:sp>
      <p:sp>
        <p:nvSpPr>
          <p:cNvPr id="3" name="TextBox 2"/>
          <p:cNvSpPr txBox="1"/>
          <p:nvPr/>
        </p:nvSpPr>
        <p:spPr>
          <a:xfrm>
            <a:off x="731520" y="658368"/>
            <a:ext cx="10698480" cy="457200"/>
          </a:xfrm>
          <a:prstGeom prst="rect">
            <a:avLst/>
          </a:prstGeom>
          <a:noFill/>
        </p:spPr>
        <p:txBody>
          <a:bodyPr wrap="square" lIns="36576" rIns="36576" tIns="36576" bIns="36576">
            <a:spAutoFit/>
          </a:bodyPr>
          <a:lstStyle/>
          <a:p>
            <a:pPr>
              <a:defRPr sz="2200" b="1">
                <a:solidFill>
                  <a:srgbClr val="080D1C"/>
                </a:solidFill>
                <a:latin typeface="Georgia"/>
              </a:defRPr>
            </a:pPr>
            <a:r>
              <a:t>“We started by creating space for expression, creativity and play.”</a:t>
            </a:r>
          </a:p>
        </p:txBody>
      </p:sp>
      <p:sp>
        <p:nvSpPr>
          <p:cNvPr id="4" name="Rounded Rectangle 3"/>
          <p:cNvSpPr/>
          <p:nvPr/>
        </p:nvSpPr>
        <p:spPr>
          <a:xfrm>
            <a:off x="731520" y="1234440"/>
            <a:ext cx="3383280" cy="512064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eelings_board_activity.jpeg"/>
          <p:cNvPicPr>
            <a:picLocks noChangeAspect="1"/>
          </p:cNvPicPr>
          <p:nvPr/>
        </p:nvPicPr>
        <p:blipFill>
          <a:blip r:embed="rId2"/>
          <a:stretch>
            <a:fillRect/>
          </a:stretch>
        </p:blipFill>
        <p:spPr>
          <a:xfrm>
            <a:off x="731520" y="1234440"/>
            <a:ext cx="3383280" cy="3291840"/>
          </a:xfrm>
          <a:prstGeom prst="rect">
            <a:avLst/>
          </a:prstGeom>
        </p:spPr>
      </p:pic>
      <p:sp>
        <p:nvSpPr>
          <p:cNvPr id="6" name="TextBox 5"/>
          <p:cNvSpPr txBox="1"/>
          <p:nvPr/>
        </p:nvSpPr>
        <p:spPr>
          <a:xfrm>
            <a:off x="868680" y="4663440"/>
            <a:ext cx="3108960" cy="1554480"/>
          </a:xfrm>
          <a:prstGeom prst="rect">
            <a:avLst/>
          </a:prstGeom>
          <a:noFill/>
        </p:spPr>
        <p:txBody>
          <a:bodyPr wrap="square" lIns="36576" rIns="36576" tIns="36576" bIns="36576">
            <a:spAutoFit/>
          </a:bodyPr>
          <a:lstStyle/>
          <a:p>
            <a:pPr>
              <a:spcAft>
                <a:spcPts val="300"/>
              </a:spcAft>
              <a:defRPr sz="900" b="1">
                <a:solidFill>
                  <a:srgbClr val="E7193F"/>
                </a:solidFill>
                <a:latin typeface="Arial"/>
              </a:defRPr>
            </a:pPr>
            <a:r>
              <a:t>INTERACTIVE CHECK-IN</a:t>
            </a:r>
          </a:p>
          <a:p>
            <a:pPr>
              <a:spcAft>
                <a:spcPts val="400"/>
              </a:spcAft>
              <a:defRPr sz="1300" b="1">
                <a:solidFill>
                  <a:srgbClr val="080D1C"/>
                </a:solidFill>
                <a:latin typeface="Georgia"/>
              </a:defRPr>
            </a:pPr>
            <a:r>
              <a:t>FEELINGS &amp; GRATITUDE BOARD</a:t>
            </a:r>
          </a:p>
          <a:p>
            <a:pPr>
              <a:defRPr sz="900">
                <a:solidFill>
                  <a:srgbClr val="646978"/>
                </a:solidFill>
                <a:latin typeface="Arial"/>
              </a:defRPr>
            </a:pPr>
            <a:r>
              <a:t>Open student board giving every emotion a voice on campus without hesitation.</a:t>
            </a:r>
          </a:p>
        </p:txBody>
      </p:sp>
      <p:sp>
        <p:nvSpPr>
          <p:cNvPr id="7" name="Rounded Rectangle 6"/>
          <p:cNvSpPr/>
          <p:nvPr/>
        </p:nvSpPr>
        <p:spPr>
          <a:xfrm>
            <a:off x="4389120" y="1234440"/>
            <a:ext cx="3383280" cy="512064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novritti_group_photo.jpeg"/>
          <p:cNvPicPr>
            <a:picLocks noChangeAspect="1"/>
          </p:cNvPicPr>
          <p:nvPr/>
        </p:nvPicPr>
        <p:blipFill>
          <a:blip r:embed="rId3"/>
          <a:stretch>
            <a:fillRect/>
          </a:stretch>
        </p:blipFill>
        <p:spPr>
          <a:xfrm>
            <a:off x="4389120" y="1234440"/>
            <a:ext cx="3383280" cy="3291840"/>
          </a:xfrm>
          <a:prstGeom prst="rect">
            <a:avLst/>
          </a:prstGeom>
        </p:spPr>
      </p:pic>
      <p:sp>
        <p:nvSpPr>
          <p:cNvPr id="9" name="TextBox 8"/>
          <p:cNvSpPr txBox="1"/>
          <p:nvPr/>
        </p:nvSpPr>
        <p:spPr>
          <a:xfrm>
            <a:off x="4526280" y="4663440"/>
            <a:ext cx="3108960" cy="1554480"/>
          </a:xfrm>
          <a:prstGeom prst="rect">
            <a:avLst/>
          </a:prstGeom>
          <a:noFill/>
        </p:spPr>
        <p:txBody>
          <a:bodyPr wrap="square" lIns="36576" rIns="36576" tIns="36576" bIns="36576">
            <a:spAutoFit/>
          </a:bodyPr>
          <a:lstStyle/>
          <a:p>
            <a:pPr>
              <a:spcAft>
                <a:spcPts val="300"/>
              </a:spcAft>
              <a:defRPr sz="900" b="1">
                <a:solidFill>
                  <a:srgbClr val="E7193F"/>
                </a:solidFill>
                <a:latin typeface="Arial"/>
              </a:defRPr>
            </a:pPr>
            <a:r>
              <a:t>ART &amp; MINDFULNESS</a:t>
            </a:r>
          </a:p>
          <a:p>
            <a:pPr>
              <a:spcAft>
                <a:spcPts val="400"/>
              </a:spcAft>
              <a:defRPr sz="1300" b="1">
                <a:solidFill>
                  <a:srgbClr val="080D1C"/>
                </a:solidFill>
                <a:latin typeface="Georgia"/>
              </a:defRPr>
            </a:pPr>
            <a:r>
              <a:t>MANOVRITTI ART WORKSHOP</a:t>
            </a:r>
          </a:p>
          <a:p>
            <a:pPr>
              <a:defRPr sz="900">
                <a:solidFill>
                  <a:srgbClr val="646978"/>
                </a:solidFill>
                <a:latin typeface="Arial"/>
              </a:defRPr>
            </a:pPr>
            <a:r>
              <a:t>Tote bag painting and mindful art circles connecting inner expression to creativity.</a:t>
            </a:r>
          </a:p>
        </p:txBody>
      </p:sp>
      <p:sp>
        <p:nvSpPr>
          <p:cNvPr id="10" name="Rounded Rectangle 9"/>
          <p:cNvSpPr/>
          <p:nvPr/>
        </p:nvSpPr>
        <p:spPr>
          <a:xfrm>
            <a:off x="8046720" y="1234440"/>
            <a:ext cx="3383280" cy="512064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emory_box_activity.png"/>
          <p:cNvPicPr>
            <a:picLocks noChangeAspect="1"/>
          </p:cNvPicPr>
          <p:nvPr/>
        </p:nvPicPr>
        <p:blipFill>
          <a:blip r:embed="rId4"/>
          <a:stretch>
            <a:fillRect/>
          </a:stretch>
        </p:blipFill>
        <p:spPr>
          <a:xfrm>
            <a:off x="8046720" y="1234440"/>
            <a:ext cx="3383280" cy="3291840"/>
          </a:xfrm>
          <a:prstGeom prst="rect">
            <a:avLst/>
          </a:prstGeom>
        </p:spPr>
      </p:pic>
      <p:sp>
        <p:nvSpPr>
          <p:cNvPr id="12" name="TextBox 11"/>
          <p:cNvSpPr txBox="1"/>
          <p:nvPr/>
        </p:nvSpPr>
        <p:spPr>
          <a:xfrm>
            <a:off x="8183880" y="4663440"/>
            <a:ext cx="3108960" cy="1554480"/>
          </a:xfrm>
          <a:prstGeom prst="rect">
            <a:avLst/>
          </a:prstGeom>
          <a:noFill/>
        </p:spPr>
        <p:txBody>
          <a:bodyPr wrap="square" lIns="36576" rIns="36576" tIns="36576" bIns="36576">
            <a:spAutoFit/>
          </a:bodyPr>
          <a:lstStyle/>
          <a:p>
            <a:pPr>
              <a:spcAft>
                <a:spcPts val="300"/>
              </a:spcAft>
              <a:defRPr sz="900" b="1">
                <a:solidFill>
                  <a:srgbClr val="E7193F"/>
                </a:solidFill>
                <a:latin typeface="Arial"/>
              </a:defRPr>
            </a:pPr>
            <a:r>
              <a:t>ANONYMOUS REFLECTION</a:t>
            </a:r>
          </a:p>
          <a:p>
            <a:pPr>
              <a:spcAft>
                <a:spcPts val="400"/>
              </a:spcAft>
              <a:defRPr sz="1300" b="1">
                <a:solidFill>
                  <a:srgbClr val="080D1C"/>
                </a:solidFill>
                <a:latin typeface="Georgia"/>
              </a:defRPr>
            </a:pPr>
            <a:r>
              <a:t>THE MEMORY BOX</a:t>
            </a:r>
          </a:p>
          <a:p>
            <a:pPr>
              <a:defRPr sz="900">
                <a:solidFill>
                  <a:srgbClr val="646978"/>
                </a:solidFill>
                <a:latin typeface="Arial"/>
              </a:defRPr>
            </a:pPr>
            <a:r>
              <a:t>A safe space for heartfelt thoughts, shared stories, and unsaid emotions.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2EA"/>
        </a:solidFill>
        <a:effectLst/>
      </p:bgPr>
    </p:bg>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36576" rIns="36576" tIns="36576" bIns="36576">
            <a:spAutoFit/>
          </a:bodyPr>
          <a:lstStyle/>
          <a:p>
            <a:pPr>
              <a:defRPr sz="1000" b="1">
                <a:solidFill>
                  <a:srgbClr val="E7193F"/>
                </a:solidFill>
                <a:latin typeface="Arial"/>
              </a:defRPr>
            </a:pPr>
            <a:r>
              <a:t>—  ACT III — THE HORIZON</a:t>
            </a:r>
          </a:p>
        </p:txBody>
      </p:sp>
      <p:sp>
        <p:nvSpPr>
          <p:cNvPr id="3" name="Rounded Rectangle 2"/>
          <p:cNvSpPr/>
          <p:nvPr/>
        </p:nvSpPr>
        <p:spPr>
          <a:xfrm>
            <a:off x="731520" y="777240"/>
            <a:ext cx="5120640" cy="557784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868680"/>
            <a:ext cx="4754880" cy="457200"/>
          </a:xfrm>
          <a:prstGeom prst="rect">
            <a:avLst/>
          </a:prstGeom>
          <a:noFill/>
        </p:spPr>
        <p:txBody>
          <a:bodyPr wrap="square" lIns="36576" rIns="36576" tIns="36576" bIns="36576">
            <a:spAutoFit/>
          </a:bodyPr>
          <a:lstStyle/>
          <a:p>
            <a:pPr>
              <a:defRPr sz="1600" b="1">
                <a:solidFill>
                  <a:srgbClr val="080D1C"/>
                </a:solidFill>
                <a:latin typeface="Georgia"/>
              </a:defRPr>
            </a:pPr>
            <a:r>
              <a:t>WE STARTED BY CREATING SPACE</a:t>
            </a:r>
          </a:p>
        </p:txBody>
      </p:sp>
      <p:pic>
        <p:nvPicPr>
          <p:cNvPr id="5" name="Picture 4" descr="manovritti_painting_closeup.jpeg"/>
          <p:cNvPicPr>
            <a:picLocks noChangeAspect="1"/>
          </p:cNvPicPr>
          <p:nvPr/>
        </p:nvPicPr>
        <p:blipFill>
          <a:blip r:embed="rId2"/>
          <a:stretch>
            <a:fillRect/>
          </a:stretch>
        </p:blipFill>
        <p:spPr>
          <a:xfrm>
            <a:off x="914400" y="1417320"/>
            <a:ext cx="2331720" cy="4206240"/>
          </a:xfrm>
          <a:prstGeom prst="rect">
            <a:avLst/>
          </a:prstGeom>
        </p:spPr>
      </p:pic>
      <p:pic>
        <p:nvPicPr>
          <p:cNvPr id="6" name="Picture 5" descr="rahat_booth_students_02.jpeg"/>
          <p:cNvPicPr>
            <a:picLocks noChangeAspect="1"/>
          </p:cNvPicPr>
          <p:nvPr/>
        </p:nvPicPr>
        <p:blipFill>
          <a:blip r:embed="rId3"/>
          <a:stretch>
            <a:fillRect/>
          </a:stretch>
        </p:blipFill>
        <p:spPr>
          <a:xfrm>
            <a:off x="3337560" y="1417320"/>
            <a:ext cx="2331720" cy="4206240"/>
          </a:xfrm>
          <a:prstGeom prst="rect">
            <a:avLst/>
          </a:prstGeom>
        </p:spPr>
      </p:pic>
      <p:sp>
        <p:nvSpPr>
          <p:cNvPr id="7" name="Rounded Rectangle 6"/>
          <p:cNvSpPr/>
          <p:nvPr/>
        </p:nvSpPr>
        <p:spPr>
          <a:xfrm>
            <a:off x="6309360" y="777240"/>
            <a:ext cx="5120640" cy="5577840"/>
          </a:xfrm>
          <a:prstGeom prst="roundRect">
            <a:avLst/>
          </a:prstGeom>
          <a:solidFill>
            <a:srgbClr val="FFFFFF"/>
          </a:solidFill>
          <a:ln>
            <a:solidFill>
              <a:srgbClr val="E7193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868680"/>
            <a:ext cx="4754880" cy="457200"/>
          </a:xfrm>
          <a:prstGeom prst="rect">
            <a:avLst/>
          </a:prstGeom>
          <a:noFill/>
        </p:spPr>
        <p:txBody>
          <a:bodyPr wrap="square" lIns="36576" rIns="36576" tIns="36576" bIns="36576">
            <a:spAutoFit/>
          </a:bodyPr>
          <a:lstStyle/>
          <a:p>
            <a:pPr>
              <a:defRPr sz="1600" b="1">
                <a:solidFill>
                  <a:srgbClr val="E7193F"/>
                </a:solidFill>
                <a:latin typeface="Georgia"/>
              </a:defRPr>
            </a:pPr>
            <a:r>
              <a:t>NOW, WE'RE MAKING THE SPACE BIGGER</a:t>
            </a:r>
          </a:p>
        </p:txBody>
      </p:sp>
      <p:sp>
        <p:nvSpPr>
          <p:cNvPr id="9" name="Rounded Rectangle 8"/>
          <p:cNvSpPr/>
          <p:nvPr/>
        </p:nvSpPr>
        <p:spPr>
          <a:xfrm>
            <a:off x="6492240" y="1417320"/>
            <a:ext cx="4754880" cy="960120"/>
          </a:xfrm>
          <a:prstGeom prst="roundRect">
            <a:avLst/>
          </a:prstGeom>
          <a:solidFill>
            <a:srgbClr val="F7F2EA"/>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1463040"/>
            <a:ext cx="4572000" cy="868680"/>
          </a:xfrm>
          <a:prstGeom prst="rect">
            <a:avLst/>
          </a:prstGeom>
          <a:noFill/>
        </p:spPr>
        <p:txBody>
          <a:bodyPr wrap="square" lIns="36576" rIns="36576" tIns="36576" bIns="36576">
            <a:spAutoFit/>
          </a:bodyPr>
          <a:lstStyle/>
          <a:p>
            <a:pPr>
              <a:spcAft>
                <a:spcPts val="300"/>
              </a:spcAft>
              <a:defRPr sz="1200" b="1">
                <a:solidFill>
                  <a:srgbClr val="080D1C"/>
                </a:solidFill>
                <a:latin typeface="Arial"/>
              </a:defRPr>
            </a:pPr>
            <a:r>
              <a:t>01  •  RAHAT AS A MEDIA HOUSE</a:t>
            </a:r>
          </a:p>
          <a:p>
            <a:pPr>
              <a:defRPr sz="1000">
                <a:solidFill>
                  <a:srgbClr val="646978"/>
                </a:solidFill>
                <a:latin typeface="Arial"/>
              </a:defRPr>
            </a:pPr>
            <a:r>
              <a:t>Conversations with people who create social impact.</a:t>
            </a:r>
          </a:p>
        </p:txBody>
      </p:sp>
      <p:sp>
        <p:nvSpPr>
          <p:cNvPr id="11" name="Rounded Rectangle 10"/>
          <p:cNvSpPr/>
          <p:nvPr/>
        </p:nvSpPr>
        <p:spPr>
          <a:xfrm>
            <a:off x="6492240" y="2514600"/>
            <a:ext cx="4754880" cy="960120"/>
          </a:xfrm>
          <a:prstGeom prst="roundRect">
            <a:avLst/>
          </a:prstGeom>
          <a:solidFill>
            <a:srgbClr val="F7F2EA"/>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560320"/>
            <a:ext cx="4572000" cy="868680"/>
          </a:xfrm>
          <a:prstGeom prst="rect">
            <a:avLst/>
          </a:prstGeom>
          <a:noFill/>
        </p:spPr>
        <p:txBody>
          <a:bodyPr wrap="square" lIns="36576" rIns="36576" tIns="36576" bIns="36576">
            <a:spAutoFit/>
          </a:bodyPr>
          <a:lstStyle/>
          <a:p>
            <a:pPr>
              <a:spcAft>
                <a:spcPts val="300"/>
              </a:spcAft>
              <a:defRPr sz="1200" b="1">
                <a:solidFill>
                  <a:srgbClr val="080D1C"/>
                </a:solidFill>
                <a:latin typeface="Arial"/>
              </a:defRPr>
            </a:pPr>
            <a:r>
              <a:t>02  •  RAHAT CARNIVAL</a:t>
            </a:r>
          </a:p>
          <a:p>
            <a:pPr>
              <a:defRPr sz="1000">
                <a:solidFill>
                  <a:srgbClr val="646978"/>
                </a:solidFill>
                <a:latin typeface="Arial"/>
              </a:defRPr>
            </a:pPr>
            <a:r>
              <a:t>A day of games, activities, creativity and connection.</a:t>
            </a:r>
          </a:p>
        </p:txBody>
      </p:sp>
      <p:sp>
        <p:nvSpPr>
          <p:cNvPr id="13" name="Rounded Rectangle 12"/>
          <p:cNvSpPr/>
          <p:nvPr/>
        </p:nvSpPr>
        <p:spPr>
          <a:xfrm>
            <a:off x="6492240" y="3611880"/>
            <a:ext cx="4754880" cy="960120"/>
          </a:xfrm>
          <a:prstGeom prst="roundRect">
            <a:avLst/>
          </a:prstGeom>
          <a:solidFill>
            <a:srgbClr val="F7F2EA"/>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3657600"/>
            <a:ext cx="4572000" cy="868680"/>
          </a:xfrm>
          <a:prstGeom prst="rect">
            <a:avLst/>
          </a:prstGeom>
          <a:noFill/>
        </p:spPr>
        <p:txBody>
          <a:bodyPr wrap="square" lIns="36576" rIns="36576" tIns="36576" bIns="36576">
            <a:spAutoFit/>
          </a:bodyPr>
          <a:lstStyle/>
          <a:p>
            <a:pPr>
              <a:spcAft>
                <a:spcPts val="300"/>
              </a:spcAft>
              <a:defRPr sz="1200" b="1">
                <a:solidFill>
                  <a:srgbClr val="080D1C"/>
                </a:solidFill>
                <a:latin typeface="Arial"/>
              </a:defRPr>
            </a:pPr>
            <a:r>
              <a:t>03  •  OPEN THEATRE</a:t>
            </a:r>
          </a:p>
          <a:p>
            <a:pPr>
              <a:defRPr sz="1000">
                <a:solidFill>
                  <a:srgbClr val="646978"/>
                </a:solidFill>
                <a:latin typeface="Arial"/>
              </a:defRPr>
            </a:pPr>
            <a:r>
              <a:t>Movies, conversations and shared experiences under one roof.</a:t>
            </a:r>
          </a:p>
        </p:txBody>
      </p:sp>
      <p:sp>
        <p:nvSpPr>
          <p:cNvPr id="15" name="Rounded Rectangle 14"/>
          <p:cNvSpPr/>
          <p:nvPr/>
        </p:nvSpPr>
        <p:spPr>
          <a:xfrm>
            <a:off x="6492240" y="4709159"/>
            <a:ext cx="4754880" cy="960120"/>
          </a:xfrm>
          <a:prstGeom prst="roundRect">
            <a:avLst/>
          </a:prstGeom>
          <a:solidFill>
            <a:srgbClr val="F7F2EA"/>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754879"/>
            <a:ext cx="4572000" cy="868680"/>
          </a:xfrm>
          <a:prstGeom prst="rect">
            <a:avLst/>
          </a:prstGeom>
          <a:noFill/>
        </p:spPr>
        <p:txBody>
          <a:bodyPr wrap="square" lIns="36576" rIns="36576" tIns="36576" bIns="36576">
            <a:spAutoFit/>
          </a:bodyPr>
          <a:lstStyle/>
          <a:p>
            <a:pPr>
              <a:spcAft>
                <a:spcPts val="300"/>
              </a:spcAft>
              <a:defRPr sz="1200" b="1">
                <a:solidFill>
                  <a:srgbClr val="080D1C"/>
                </a:solidFill>
                <a:latin typeface="Arial"/>
              </a:defRPr>
            </a:pPr>
            <a:r>
              <a:t>04  •  CONTINUING THE CORE</a:t>
            </a:r>
          </a:p>
          <a:p>
            <a:pPr>
              <a:defRPr sz="1000">
                <a:solidFill>
                  <a:srgbClr val="646978"/>
                </a:solidFill>
                <a:latin typeface="Arial"/>
              </a:defRPr>
            </a:pPr>
            <a:r>
              <a:t>Mental well-being remains at the heart of everything we do.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80D1C"/>
        </a:solidFill>
        <a:effectLst/>
      </p:bgPr>
    </p:bg>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36576" rIns="36576" tIns="36576" bIns="36576">
            <a:spAutoFit/>
          </a:bodyPr>
          <a:lstStyle/>
          <a:p>
            <a:pPr>
              <a:defRPr sz="1000" b="1">
                <a:solidFill>
                  <a:srgbClr val="E7193F"/>
                </a:solidFill>
                <a:latin typeface="Arial"/>
              </a:defRPr>
            </a:pPr>
            <a:r>
              <a:t>—  ACT IV — SCALE &amp; MOMENTUM</a:t>
            </a:r>
          </a:p>
        </p:txBody>
      </p:sp>
      <p:sp>
        <p:nvSpPr>
          <p:cNvPr id="3" name="TextBox 2"/>
          <p:cNvSpPr txBox="1"/>
          <p:nvPr/>
        </p:nvSpPr>
        <p:spPr>
          <a:xfrm>
            <a:off x="731520" y="822960"/>
            <a:ext cx="3931920" cy="2926080"/>
          </a:xfrm>
          <a:prstGeom prst="rect">
            <a:avLst/>
          </a:prstGeom>
          <a:noFill/>
        </p:spPr>
        <p:txBody>
          <a:bodyPr wrap="square" lIns="36576" rIns="36576" tIns="36576" bIns="36576">
            <a:spAutoFit/>
          </a:bodyPr>
          <a:lstStyle/>
          <a:p>
            <a:pPr>
              <a:spcAft>
                <a:spcPts val="200"/>
              </a:spcAft>
              <a:defRPr sz="6400" b="1">
                <a:solidFill>
                  <a:srgbClr val="FFFFFF"/>
                </a:solidFill>
                <a:latin typeface="Georgia"/>
              </a:defRPr>
            </a:pPr>
            <a:r>
              <a:t>700+</a:t>
            </a:r>
          </a:p>
          <a:p>
            <a:pPr>
              <a:spcAft>
                <a:spcPts val="400"/>
              </a:spcAft>
              <a:defRPr sz="1800" b="1">
                <a:solidFill>
                  <a:srgbClr val="E7193F"/>
                </a:solidFill>
                <a:latin typeface="Arial"/>
              </a:defRPr>
            </a:pPr>
            <a:r>
              <a:t>REGISTRATIONS</a:t>
            </a:r>
          </a:p>
          <a:p>
            <a:pPr>
              <a:spcAft>
                <a:spcPts val="800"/>
              </a:spcAft>
              <a:defRPr sz="1200" b="1">
                <a:solidFill>
                  <a:srgbClr val="D6A85D"/>
                </a:solidFill>
                <a:latin typeface="Arial"/>
              </a:defRPr>
            </a:pPr>
            <a:r>
              <a:t>ONE PACKED HOUSE</a:t>
            </a:r>
          </a:p>
          <a:p>
            <a:pPr>
              <a:defRPr sz="1300" i="1">
                <a:solidFill>
                  <a:srgbClr val="FFFFFF"/>
                </a:solidFill>
                <a:latin typeface="Georgia"/>
              </a:defRPr>
            </a:pPr>
            <a:r>
              <a:t>“A room full of people who showed up, watched, laughed, and shared the moment.”</a:t>
            </a:r>
          </a:p>
        </p:txBody>
      </p:sp>
      <p:pic>
        <p:nvPicPr>
          <p:cNvPr id="4" name="Picture 3" descr="700_plus_registrations_packed_house.png"/>
          <p:cNvPicPr>
            <a:picLocks noChangeAspect="1"/>
          </p:cNvPicPr>
          <p:nvPr/>
        </p:nvPicPr>
        <p:blipFill>
          <a:blip r:embed="rId2"/>
          <a:stretch>
            <a:fillRect/>
          </a:stretch>
        </p:blipFill>
        <p:spPr>
          <a:xfrm>
            <a:off x="731520" y="3931920"/>
            <a:ext cx="3931920" cy="2423160"/>
          </a:xfrm>
          <a:prstGeom prst="rect">
            <a:avLst/>
          </a:prstGeom>
        </p:spPr>
      </p:pic>
      <p:pic>
        <p:nvPicPr>
          <p:cNvPr id="5" name="video_02_audience_wid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4892040" y="822960"/>
            <a:ext cx="3840480" cy="5486400"/>
          </a:xfrm>
          <a:prstGeom prst="rect">
            <a:avLst/>
          </a:prstGeom>
        </p:spPr>
      </p:pic>
      <p:pic>
        <p:nvPicPr>
          <p:cNvPr id="6" name="video_03_auditorium_screen_vertical.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8869680" y="822960"/>
            <a:ext cx="1463040" cy="5486400"/>
          </a:xfrm>
          <a:prstGeom prst="rect">
            <a:avLst/>
          </a:prstGeom>
        </p:spPr>
      </p:pic>
      <p:pic>
        <p:nvPicPr>
          <p:cNvPr id="7" name="video_06_event_vertical.mp4">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10469880" y="822960"/>
            <a:ext cx="1463040" cy="54864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6"/>
                </p:tgtEl>
              </p:cMediaNode>
            </p:video>
            <p:video>
              <p:cMediaNode vol="80000">
                <p:cTn id="4" fill="hold" display="0">
                  <p:stCondLst>
                    <p:cond delay="indefinite"/>
                  </p:stCondLst>
                </p:cTn>
                <p:tgtEl>
                  <p:spTgt spid="7"/>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2EA"/>
        </a:solidFill>
        <a:effectLst/>
      </p:bgPr>
    </p:bg>
    <p:spTree>
      <p:nvGrpSpPr>
        <p:cNvPr id="1" name=""/>
        <p:cNvGrpSpPr/>
        <p:nvPr/>
      </p:nvGrpSpPr>
      <p:grpSpPr/>
      <p:sp>
        <p:nvSpPr>
          <p:cNvPr id="2" name="TextBox 1"/>
          <p:cNvSpPr txBox="1"/>
          <p:nvPr/>
        </p:nvSpPr>
        <p:spPr>
          <a:xfrm>
            <a:off x="731520" y="320040"/>
            <a:ext cx="7315200" cy="320040"/>
          </a:xfrm>
          <a:prstGeom prst="rect">
            <a:avLst/>
          </a:prstGeom>
          <a:noFill/>
        </p:spPr>
        <p:txBody>
          <a:bodyPr wrap="square" lIns="36576" rIns="36576" tIns="36576" bIns="36576">
            <a:spAutoFit/>
          </a:bodyPr>
          <a:lstStyle/>
          <a:p>
            <a:pPr>
              <a:defRPr sz="1000" b="1">
                <a:solidFill>
                  <a:srgbClr val="E7193F"/>
                </a:solidFill>
                <a:latin typeface="Arial"/>
              </a:defRPr>
            </a:pPr>
            <a:r>
              <a:t>—  ACT V — THE LEADERSHIP</a:t>
            </a:r>
          </a:p>
        </p:txBody>
      </p:sp>
      <p:sp>
        <p:nvSpPr>
          <p:cNvPr id="3" name="TextBox 2"/>
          <p:cNvSpPr txBox="1"/>
          <p:nvPr/>
        </p:nvSpPr>
        <p:spPr>
          <a:xfrm>
            <a:off x="731520" y="594360"/>
            <a:ext cx="10698480" cy="411480"/>
          </a:xfrm>
          <a:prstGeom prst="rect">
            <a:avLst/>
          </a:prstGeom>
          <a:noFill/>
        </p:spPr>
        <p:txBody>
          <a:bodyPr wrap="square" lIns="36576" rIns="36576" tIns="36576" bIns="36576">
            <a:spAutoFit/>
          </a:bodyPr>
          <a:lstStyle/>
          <a:p>
            <a:pPr>
              <a:defRPr sz="2200" b="1">
                <a:solidFill>
                  <a:srgbClr val="080D1C"/>
                </a:solidFill>
                <a:latin typeface="Georgia"/>
              </a:defRPr>
            </a:pPr>
            <a:r>
              <a:t>THE PEOPLE BEHIND RAHAT</a:t>
            </a:r>
          </a:p>
        </p:txBody>
      </p:sp>
      <p:sp>
        <p:nvSpPr>
          <p:cNvPr id="4" name="Rounded Rectangle 3"/>
          <p:cNvSpPr/>
          <p:nvPr/>
        </p:nvSpPr>
        <p:spPr>
          <a:xfrm>
            <a:off x="2926080" y="1051560"/>
            <a:ext cx="3017520" cy="251460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nvi_pic.jpeg"/>
          <p:cNvPicPr>
            <a:picLocks noChangeAspect="1"/>
          </p:cNvPicPr>
          <p:nvPr/>
        </p:nvPicPr>
        <p:blipFill>
          <a:blip r:embed="rId2"/>
          <a:stretch>
            <a:fillRect/>
          </a:stretch>
        </p:blipFill>
        <p:spPr>
          <a:xfrm>
            <a:off x="3063240" y="1143000"/>
            <a:ext cx="1188720" cy="1645920"/>
          </a:xfrm>
          <a:prstGeom prst="rect">
            <a:avLst/>
          </a:prstGeom>
        </p:spPr>
      </p:pic>
      <p:sp>
        <p:nvSpPr>
          <p:cNvPr id="6" name="TextBox 5"/>
          <p:cNvSpPr txBox="1"/>
          <p:nvPr/>
        </p:nvSpPr>
        <p:spPr>
          <a:xfrm>
            <a:off x="4343400" y="1325880"/>
            <a:ext cx="1508760" cy="1463040"/>
          </a:xfrm>
          <a:prstGeom prst="rect">
            <a:avLst/>
          </a:prstGeom>
          <a:noFill/>
        </p:spPr>
        <p:txBody>
          <a:bodyPr wrap="square" lIns="36576" rIns="36576" tIns="36576" bIns="36576">
            <a:spAutoFit/>
          </a:bodyPr>
          <a:lstStyle/>
          <a:p>
            <a:pPr>
              <a:defRPr sz="1800" b="1">
                <a:solidFill>
                  <a:srgbClr val="080D1C"/>
                </a:solidFill>
                <a:latin typeface="Georgia"/>
              </a:defRPr>
            </a:pPr>
            <a:r>
              <a:t>TANVI</a:t>
            </a:r>
          </a:p>
          <a:p>
            <a:pPr>
              <a:defRPr sz="1100" b="1">
                <a:solidFill>
                  <a:srgbClr val="E7193F"/>
                </a:solidFill>
                <a:latin typeface="Arial"/>
              </a:defRPr>
            </a:pPr>
            <a:r>
              <a:t>PRESIDENT</a:t>
            </a:r>
          </a:p>
        </p:txBody>
      </p:sp>
      <p:sp>
        <p:nvSpPr>
          <p:cNvPr id="7" name="Rounded Rectangle 6"/>
          <p:cNvSpPr/>
          <p:nvPr/>
        </p:nvSpPr>
        <p:spPr>
          <a:xfrm>
            <a:off x="6248095" y="1051560"/>
            <a:ext cx="3017520" cy="251460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van_pic.jpeg"/>
          <p:cNvPicPr>
            <a:picLocks noChangeAspect="1"/>
          </p:cNvPicPr>
          <p:nvPr/>
        </p:nvPicPr>
        <p:blipFill>
          <a:blip r:embed="rId3"/>
          <a:stretch>
            <a:fillRect/>
          </a:stretch>
        </p:blipFill>
        <p:spPr>
          <a:xfrm>
            <a:off x="6400800" y="1143000"/>
            <a:ext cx="1188720" cy="1645920"/>
          </a:xfrm>
          <a:prstGeom prst="rect">
            <a:avLst/>
          </a:prstGeom>
        </p:spPr>
      </p:pic>
      <p:sp>
        <p:nvSpPr>
          <p:cNvPr id="9" name="TextBox 8"/>
          <p:cNvSpPr txBox="1"/>
          <p:nvPr/>
        </p:nvSpPr>
        <p:spPr>
          <a:xfrm>
            <a:off x="7680960" y="1325880"/>
            <a:ext cx="1508760" cy="1463040"/>
          </a:xfrm>
          <a:prstGeom prst="rect">
            <a:avLst/>
          </a:prstGeom>
          <a:noFill/>
        </p:spPr>
        <p:txBody>
          <a:bodyPr wrap="square" lIns="36576" rIns="36576" tIns="36576" bIns="36576">
            <a:spAutoFit/>
          </a:bodyPr>
          <a:lstStyle/>
          <a:p>
            <a:pPr>
              <a:defRPr sz="1800" b="1">
                <a:solidFill>
                  <a:srgbClr val="080D1C"/>
                </a:solidFill>
                <a:latin typeface="Georgia"/>
              </a:defRPr>
            </a:pPr>
            <a:r>
              <a:t>PAVAN</a:t>
            </a:r>
          </a:p>
          <a:p>
            <a:pPr>
              <a:defRPr sz="1100" b="1">
                <a:solidFill>
                  <a:srgbClr val="E7193F"/>
                </a:solidFill>
                <a:latin typeface="Arial"/>
              </a:defRPr>
            </a:pPr>
            <a:r>
              <a:t>VICE PRESIDENT</a:t>
            </a:r>
          </a:p>
        </p:txBody>
      </p:sp>
      <p:sp>
        <p:nvSpPr>
          <p:cNvPr id="10" name="Rounded Rectangle 9"/>
          <p:cNvSpPr/>
          <p:nvPr/>
        </p:nvSpPr>
        <p:spPr>
          <a:xfrm>
            <a:off x="731520" y="3749039"/>
            <a:ext cx="2039112" cy="274320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nish_pic.jpeg"/>
          <p:cNvPicPr>
            <a:picLocks noChangeAspect="1"/>
          </p:cNvPicPr>
          <p:nvPr/>
        </p:nvPicPr>
        <p:blipFill>
          <a:blip r:embed="rId4"/>
          <a:stretch>
            <a:fillRect/>
          </a:stretch>
        </p:blipFill>
        <p:spPr>
          <a:xfrm>
            <a:off x="914400" y="3886199"/>
            <a:ext cx="1673352" cy="1828800"/>
          </a:xfrm>
          <a:prstGeom prst="rect">
            <a:avLst/>
          </a:prstGeom>
        </p:spPr>
      </p:pic>
      <p:sp>
        <p:nvSpPr>
          <p:cNvPr id="12" name="TextBox 11"/>
          <p:cNvSpPr txBox="1"/>
          <p:nvPr/>
        </p:nvSpPr>
        <p:spPr>
          <a:xfrm>
            <a:off x="731520" y="5760719"/>
            <a:ext cx="2039112" cy="685800"/>
          </a:xfrm>
          <a:prstGeom prst="rect">
            <a:avLst/>
          </a:prstGeom>
          <a:noFill/>
        </p:spPr>
        <p:txBody>
          <a:bodyPr wrap="square" lIns="36576" rIns="36576" tIns="36576" bIns="36576">
            <a:spAutoFit/>
          </a:bodyPr>
          <a:lstStyle/>
          <a:p>
            <a:pPr algn="ctr">
              <a:defRPr sz="1300" b="1">
                <a:solidFill>
                  <a:srgbClr val="080D1C"/>
                </a:solidFill>
                <a:latin typeface="Georgia"/>
              </a:defRPr>
            </a:pPr>
            <a:r>
              <a:t>TANISH</a:t>
            </a:r>
          </a:p>
          <a:p>
            <a:pPr algn="ctr">
              <a:defRPr sz="850" b="1">
                <a:solidFill>
                  <a:srgbClr val="E7193F"/>
                </a:solidFill>
                <a:latin typeface="Arial"/>
              </a:defRPr>
            </a:pPr>
            <a:r>
              <a:t>GENERAL SECRETARY</a:t>
            </a:r>
          </a:p>
        </p:txBody>
      </p:sp>
      <p:sp>
        <p:nvSpPr>
          <p:cNvPr id="13" name="Rounded Rectangle 12"/>
          <p:cNvSpPr/>
          <p:nvPr/>
        </p:nvSpPr>
        <p:spPr>
          <a:xfrm>
            <a:off x="2898648" y="3749039"/>
            <a:ext cx="2039112" cy="274320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kshita_pic.jpeg"/>
          <p:cNvPicPr>
            <a:picLocks noChangeAspect="1"/>
          </p:cNvPicPr>
          <p:nvPr/>
        </p:nvPicPr>
        <p:blipFill>
          <a:blip r:embed="rId5"/>
          <a:stretch>
            <a:fillRect/>
          </a:stretch>
        </p:blipFill>
        <p:spPr>
          <a:xfrm>
            <a:off x="3081528" y="3886199"/>
            <a:ext cx="1673352" cy="1828800"/>
          </a:xfrm>
          <a:prstGeom prst="rect">
            <a:avLst/>
          </a:prstGeom>
        </p:spPr>
      </p:pic>
      <p:sp>
        <p:nvSpPr>
          <p:cNvPr id="15" name="TextBox 14"/>
          <p:cNvSpPr txBox="1"/>
          <p:nvPr/>
        </p:nvSpPr>
        <p:spPr>
          <a:xfrm>
            <a:off x="2898648" y="5760719"/>
            <a:ext cx="2039112" cy="685800"/>
          </a:xfrm>
          <a:prstGeom prst="rect">
            <a:avLst/>
          </a:prstGeom>
          <a:noFill/>
        </p:spPr>
        <p:txBody>
          <a:bodyPr wrap="square" lIns="36576" rIns="36576" tIns="36576" bIns="36576">
            <a:spAutoFit/>
          </a:bodyPr>
          <a:lstStyle/>
          <a:p>
            <a:pPr algn="ctr">
              <a:defRPr sz="1300" b="1">
                <a:solidFill>
                  <a:srgbClr val="080D1C"/>
                </a:solidFill>
                <a:latin typeface="Georgia"/>
              </a:defRPr>
            </a:pPr>
            <a:r>
              <a:t>AKSHITA</a:t>
            </a:r>
          </a:p>
          <a:p>
            <a:pPr algn="ctr">
              <a:defRPr sz="850" b="1">
                <a:solidFill>
                  <a:srgbClr val="E7193F"/>
                </a:solidFill>
                <a:latin typeface="Arial"/>
              </a:defRPr>
            </a:pPr>
            <a:r>
              <a:t>CREATIVE LEAD</a:t>
            </a:r>
          </a:p>
        </p:txBody>
      </p:sp>
      <p:sp>
        <p:nvSpPr>
          <p:cNvPr id="16" name="Rounded Rectangle 15"/>
          <p:cNvSpPr/>
          <p:nvPr/>
        </p:nvSpPr>
        <p:spPr>
          <a:xfrm>
            <a:off x="5065776" y="3749039"/>
            <a:ext cx="2039112" cy="274320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asini_pic.jpeg"/>
          <p:cNvPicPr>
            <a:picLocks noChangeAspect="1"/>
          </p:cNvPicPr>
          <p:nvPr/>
        </p:nvPicPr>
        <p:blipFill>
          <a:blip r:embed="rId6"/>
          <a:stretch>
            <a:fillRect/>
          </a:stretch>
        </p:blipFill>
        <p:spPr>
          <a:xfrm>
            <a:off x="5248656" y="3886199"/>
            <a:ext cx="1673352" cy="1828800"/>
          </a:xfrm>
          <a:prstGeom prst="rect">
            <a:avLst/>
          </a:prstGeom>
        </p:spPr>
      </p:pic>
      <p:sp>
        <p:nvSpPr>
          <p:cNvPr id="18" name="TextBox 17"/>
          <p:cNvSpPr txBox="1"/>
          <p:nvPr/>
        </p:nvSpPr>
        <p:spPr>
          <a:xfrm>
            <a:off x="5065776" y="5760719"/>
            <a:ext cx="2039112" cy="685800"/>
          </a:xfrm>
          <a:prstGeom prst="rect">
            <a:avLst/>
          </a:prstGeom>
          <a:noFill/>
        </p:spPr>
        <p:txBody>
          <a:bodyPr wrap="square" lIns="36576" rIns="36576" tIns="36576" bIns="36576">
            <a:spAutoFit/>
          </a:bodyPr>
          <a:lstStyle/>
          <a:p>
            <a:pPr algn="ctr">
              <a:defRPr sz="1300" b="1">
                <a:solidFill>
                  <a:srgbClr val="080D1C"/>
                </a:solidFill>
                <a:latin typeface="Georgia"/>
              </a:defRPr>
            </a:pPr>
            <a:r>
              <a:t>HAASINI</a:t>
            </a:r>
          </a:p>
          <a:p>
            <a:pPr algn="ctr">
              <a:defRPr sz="850" b="1">
                <a:solidFill>
                  <a:srgbClr val="E7193F"/>
                </a:solidFill>
                <a:latin typeface="Arial"/>
              </a:defRPr>
            </a:pPr>
            <a:r>
              <a:t>OPERATIONS LEAD</a:t>
            </a:r>
          </a:p>
        </p:txBody>
      </p:sp>
      <p:sp>
        <p:nvSpPr>
          <p:cNvPr id="19" name="Rounded Rectangle 18"/>
          <p:cNvSpPr/>
          <p:nvPr/>
        </p:nvSpPr>
        <p:spPr>
          <a:xfrm>
            <a:off x="7232904" y="3749039"/>
            <a:ext cx="2039112" cy="274320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keshav_pic.jpeg"/>
          <p:cNvPicPr>
            <a:picLocks noChangeAspect="1"/>
          </p:cNvPicPr>
          <p:nvPr/>
        </p:nvPicPr>
        <p:blipFill>
          <a:blip r:embed="rId7"/>
          <a:stretch>
            <a:fillRect/>
          </a:stretch>
        </p:blipFill>
        <p:spPr>
          <a:xfrm>
            <a:off x="7415784" y="3886199"/>
            <a:ext cx="1673352" cy="1828800"/>
          </a:xfrm>
          <a:prstGeom prst="rect">
            <a:avLst/>
          </a:prstGeom>
        </p:spPr>
      </p:pic>
      <p:sp>
        <p:nvSpPr>
          <p:cNvPr id="21" name="TextBox 20"/>
          <p:cNvSpPr txBox="1"/>
          <p:nvPr/>
        </p:nvSpPr>
        <p:spPr>
          <a:xfrm>
            <a:off x="7232904" y="5760719"/>
            <a:ext cx="2039112" cy="685800"/>
          </a:xfrm>
          <a:prstGeom prst="rect">
            <a:avLst/>
          </a:prstGeom>
          <a:noFill/>
        </p:spPr>
        <p:txBody>
          <a:bodyPr wrap="square" lIns="36576" rIns="36576" tIns="36576" bIns="36576">
            <a:spAutoFit/>
          </a:bodyPr>
          <a:lstStyle/>
          <a:p>
            <a:pPr algn="ctr">
              <a:defRPr sz="1300" b="1">
                <a:solidFill>
                  <a:srgbClr val="080D1C"/>
                </a:solidFill>
                <a:latin typeface="Georgia"/>
              </a:defRPr>
            </a:pPr>
            <a:r>
              <a:t>KESHAV</a:t>
            </a:r>
          </a:p>
          <a:p>
            <a:pPr algn="ctr">
              <a:defRPr sz="850" b="1">
                <a:solidFill>
                  <a:srgbClr val="E7193F"/>
                </a:solidFill>
                <a:latin typeface="Arial"/>
              </a:defRPr>
            </a:pPr>
            <a:r>
              <a:t>TREASURER</a:t>
            </a:r>
          </a:p>
        </p:txBody>
      </p:sp>
      <p:sp>
        <p:nvSpPr>
          <p:cNvPr id="22" name="Rounded Rectangle 21"/>
          <p:cNvSpPr/>
          <p:nvPr/>
        </p:nvSpPr>
        <p:spPr>
          <a:xfrm>
            <a:off x="9400032" y="3749039"/>
            <a:ext cx="2039112" cy="274320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manya_pic.jpeg"/>
          <p:cNvPicPr>
            <a:picLocks noChangeAspect="1"/>
          </p:cNvPicPr>
          <p:nvPr/>
        </p:nvPicPr>
        <p:blipFill>
          <a:blip r:embed="rId8"/>
          <a:stretch>
            <a:fillRect/>
          </a:stretch>
        </p:blipFill>
        <p:spPr>
          <a:xfrm>
            <a:off x="9582912" y="3886199"/>
            <a:ext cx="1673352" cy="1828800"/>
          </a:xfrm>
          <a:prstGeom prst="rect">
            <a:avLst/>
          </a:prstGeom>
        </p:spPr>
      </p:pic>
      <p:sp>
        <p:nvSpPr>
          <p:cNvPr id="24" name="TextBox 23"/>
          <p:cNvSpPr txBox="1"/>
          <p:nvPr/>
        </p:nvSpPr>
        <p:spPr>
          <a:xfrm>
            <a:off x="9400032" y="5760719"/>
            <a:ext cx="2039112" cy="685800"/>
          </a:xfrm>
          <a:prstGeom prst="rect">
            <a:avLst/>
          </a:prstGeom>
          <a:noFill/>
        </p:spPr>
        <p:txBody>
          <a:bodyPr wrap="square" lIns="36576" rIns="36576" tIns="36576" bIns="36576">
            <a:spAutoFit/>
          </a:bodyPr>
          <a:lstStyle/>
          <a:p>
            <a:pPr algn="ctr">
              <a:defRPr sz="1300" b="1">
                <a:solidFill>
                  <a:srgbClr val="080D1C"/>
                </a:solidFill>
                <a:latin typeface="Georgia"/>
              </a:defRPr>
            </a:pPr>
            <a:r>
              <a:t>MANYA</a:t>
            </a:r>
          </a:p>
          <a:p>
            <a:pPr algn="ctr">
              <a:defRPr sz="850" b="1">
                <a:solidFill>
                  <a:srgbClr val="E7193F"/>
                </a:solidFill>
                <a:latin typeface="Arial"/>
              </a:defRPr>
            </a:pPr>
            <a:r>
              <a:t>WEB &amp; SOCIAL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2EA"/>
        </a:solidFill>
        <a:effectLst/>
      </p:bgPr>
    </p:bg>
    <p:spTree>
      <p:nvGrpSpPr>
        <p:cNvPr id="1" name=""/>
        <p:cNvGrpSpPr/>
        <p:nvPr/>
      </p:nvGrpSpPr>
      <p:grpSpPr/>
      <p:sp>
        <p:nvSpPr>
          <p:cNvPr id="2" name="TextBox 1"/>
          <p:cNvSpPr txBox="1"/>
          <p:nvPr/>
        </p:nvSpPr>
        <p:spPr>
          <a:xfrm>
            <a:off x="731520" y="320040"/>
            <a:ext cx="7315200" cy="320040"/>
          </a:xfrm>
          <a:prstGeom prst="rect">
            <a:avLst/>
          </a:prstGeom>
          <a:noFill/>
        </p:spPr>
        <p:txBody>
          <a:bodyPr wrap="square" lIns="36576" rIns="36576" tIns="36576" bIns="36576">
            <a:spAutoFit/>
          </a:bodyPr>
          <a:lstStyle/>
          <a:p>
            <a:pPr>
              <a:defRPr sz="1000" b="1">
                <a:solidFill>
                  <a:srgbClr val="E7193F"/>
                </a:solidFill>
                <a:latin typeface="Arial"/>
              </a:defRPr>
            </a:pPr>
            <a:r>
              <a:t>—  ACT VI — CONNECT WITH US</a:t>
            </a:r>
          </a:p>
        </p:txBody>
      </p:sp>
      <p:sp>
        <p:nvSpPr>
          <p:cNvPr id="3" name="TextBox 2"/>
          <p:cNvSpPr txBox="1"/>
          <p:nvPr/>
        </p:nvSpPr>
        <p:spPr>
          <a:xfrm>
            <a:off x="731520" y="594360"/>
            <a:ext cx="10698480" cy="502920"/>
          </a:xfrm>
          <a:prstGeom prst="rect">
            <a:avLst/>
          </a:prstGeom>
          <a:noFill/>
        </p:spPr>
        <p:txBody>
          <a:bodyPr wrap="square" lIns="36576" rIns="36576" tIns="36576" bIns="36576">
            <a:spAutoFit/>
          </a:bodyPr>
          <a:lstStyle/>
          <a:p>
            <a:pPr>
              <a:defRPr sz="2600" b="1">
                <a:solidFill>
                  <a:srgbClr val="080D1C"/>
                </a:solidFill>
                <a:latin typeface="Georgia"/>
              </a:defRPr>
            </a:pPr>
            <a:r>
              <a:t>JOIN THE RAHAT COMMUNITY</a:t>
            </a:r>
          </a:p>
        </p:txBody>
      </p:sp>
      <p:sp>
        <p:nvSpPr>
          <p:cNvPr id="4" name="Rounded Rectangle 3"/>
          <p:cNvSpPr/>
          <p:nvPr/>
        </p:nvSpPr>
        <p:spPr>
          <a:xfrm>
            <a:off x="731520" y="1143000"/>
            <a:ext cx="3401568" cy="530352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61872"/>
            <a:ext cx="3401568" cy="320040"/>
          </a:xfrm>
          <a:prstGeom prst="rect">
            <a:avLst/>
          </a:prstGeom>
          <a:noFill/>
        </p:spPr>
        <p:txBody>
          <a:bodyPr wrap="square" lIns="36576" rIns="36576" tIns="36576" bIns="36576">
            <a:spAutoFit/>
          </a:bodyPr>
          <a:lstStyle/>
          <a:p>
            <a:pPr algn="ctr">
              <a:defRPr sz="1000" b="1">
                <a:solidFill>
                  <a:srgbClr val="E7193F"/>
                </a:solidFill>
                <a:latin typeface="Arial"/>
              </a:defRPr>
            </a:pPr>
            <a:r>
              <a:t>WHATSAPP COMMUNITY</a:t>
            </a:r>
          </a:p>
        </p:txBody>
      </p:sp>
      <p:pic>
        <p:nvPicPr>
          <p:cNvPr id="6" name="Picture 5" descr="whatsapp_qr.png"/>
          <p:cNvPicPr>
            <a:picLocks noChangeAspect="1"/>
          </p:cNvPicPr>
          <p:nvPr/>
        </p:nvPicPr>
        <p:blipFill>
          <a:blip r:embed="rId2"/>
          <a:stretch>
            <a:fillRect/>
          </a:stretch>
        </p:blipFill>
        <p:spPr>
          <a:xfrm>
            <a:off x="1060704" y="1645920"/>
            <a:ext cx="2743200" cy="2743200"/>
          </a:xfrm>
          <a:prstGeom prst="rect">
            <a:avLst/>
          </a:prstGeom>
        </p:spPr>
      </p:pic>
      <p:sp>
        <p:nvSpPr>
          <p:cNvPr id="7" name="TextBox 6"/>
          <p:cNvSpPr txBox="1"/>
          <p:nvPr/>
        </p:nvSpPr>
        <p:spPr>
          <a:xfrm>
            <a:off x="841248" y="4480560"/>
            <a:ext cx="3182112" cy="1828800"/>
          </a:xfrm>
          <a:prstGeom prst="rect">
            <a:avLst/>
          </a:prstGeom>
          <a:noFill/>
        </p:spPr>
        <p:txBody>
          <a:bodyPr wrap="square" lIns="36576" rIns="36576" tIns="36576" bIns="36576">
            <a:spAutoFit/>
          </a:bodyPr>
          <a:lstStyle/>
          <a:p>
            <a:pPr algn="ctr">
              <a:spcAft>
                <a:spcPts val="400"/>
              </a:spcAft>
              <a:defRPr sz="1700" b="1">
                <a:solidFill>
                  <a:srgbClr val="080D1C"/>
                </a:solidFill>
                <a:latin typeface="Georgia"/>
              </a:defRPr>
            </a:pPr>
            <a:r>
              <a:t>RAHAT COMMUNITY</a:t>
            </a:r>
          </a:p>
          <a:p>
            <a:pPr algn="ctr">
              <a:defRPr sz="1000">
                <a:solidFill>
                  <a:srgbClr val="646978"/>
                </a:solidFill>
                <a:latin typeface="Arial"/>
              </a:defRPr>
            </a:pPr>
            <a:r>
              <a:t>Group chats, announcements &amp; safe space</a:t>
            </a:r>
          </a:p>
        </p:txBody>
      </p:sp>
      <p:sp>
        <p:nvSpPr>
          <p:cNvPr id="8" name="Rounded Rectangle 7"/>
          <p:cNvSpPr/>
          <p:nvPr/>
        </p:nvSpPr>
        <p:spPr>
          <a:xfrm>
            <a:off x="4389120" y="1143000"/>
            <a:ext cx="3401568" cy="530352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261872"/>
            <a:ext cx="3401568" cy="320040"/>
          </a:xfrm>
          <a:prstGeom prst="rect">
            <a:avLst/>
          </a:prstGeom>
          <a:noFill/>
        </p:spPr>
        <p:txBody>
          <a:bodyPr wrap="square" lIns="36576" rIns="36576" tIns="36576" bIns="36576">
            <a:spAutoFit/>
          </a:bodyPr>
          <a:lstStyle/>
          <a:p>
            <a:pPr algn="ctr">
              <a:defRPr sz="1000" b="1">
                <a:solidFill>
                  <a:srgbClr val="E7193F"/>
                </a:solidFill>
                <a:latin typeface="Arial"/>
              </a:defRPr>
            </a:pPr>
            <a:r>
              <a:t>INSTAGRAM</a:t>
            </a:r>
          </a:p>
        </p:txBody>
      </p:sp>
      <p:pic>
        <p:nvPicPr>
          <p:cNvPr id="10" name="Picture 9" descr="insta_qr_cropped.png"/>
          <p:cNvPicPr>
            <a:picLocks noChangeAspect="1"/>
          </p:cNvPicPr>
          <p:nvPr/>
        </p:nvPicPr>
        <p:blipFill>
          <a:blip r:embed="rId3"/>
          <a:stretch>
            <a:fillRect/>
          </a:stretch>
        </p:blipFill>
        <p:spPr>
          <a:xfrm>
            <a:off x="4718304" y="1645920"/>
            <a:ext cx="2743200" cy="2743200"/>
          </a:xfrm>
          <a:prstGeom prst="rect">
            <a:avLst/>
          </a:prstGeom>
        </p:spPr>
      </p:pic>
      <p:sp>
        <p:nvSpPr>
          <p:cNvPr id="11" name="TextBox 10"/>
          <p:cNvSpPr txBox="1"/>
          <p:nvPr/>
        </p:nvSpPr>
        <p:spPr>
          <a:xfrm>
            <a:off x="4498848" y="4480560"/>
            <a:ext cx="3182112" cy="1828800"/>
          </a:xfrm>
          <a:prstGeom prst="rect">
            <a:avLst/>
          </a:prstGeom>
          <a:noFill/>
        </p:spPr>
        <p:txBody>
          <a:bodyPr wrap="square" lIns="36576" rIns="36576" tIns="36576" bIns="36576">
            <a:spAutoFit/>
          </a:bodyPr>
          <a:lstStyle/>
          <a:p>
            <a:pPr algn="ctr">
              <a:spcAft>
                <a:spcPts val="400"/>
              </a:spcAft>
              <a:defRPr sz="1700" b="1">
                <a:solidFill>
                  <a:srgbClr val="080D1C"/>
                </a:solidFill>
                <a:latin typeface="Georgia"/>
              </a:defRPr>
            </a:pPr>
            <a:r>
              <a:t>@RAHAT.MAHEBLR</a:t>
            </a:r>
          </a:p>
          <a:p>
            <a:pPr algn="ctr">
              <a:defRPr sz="1000">
                <a:solidFill>
                  <a:srgbClr val="646978"/>
                </a:solidFill>
                <a:latin typeface="Arial"/>
              </a:defRPr>
            </a:pPr>
            <a:r>
              <a:t>Stories, reels &amp; daily moments</a:t>
            </a:r>
          </a:p>
        </p:txBody>
      </p:sp>
      <p:sp>
        <p:nvSpPr>
          <p:cNvPr id="12" name="Rounded Rectangle 11"/>
          <p:cNvSpPr/>
          <p:nvPr/>
        </p:nvSpPr>
        <p:spPr>
          <a:xfrm>
            <a:off x="8046720" y="1143000"/>
            <a:ext cx="3401568" cy="5303520"/>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261872"/>
            <a:ext cx="3401568" cy="320040"/>
          </a:xfrm>
          <a:prstGeom prst="rect">
            <a:avLst/>
          </a:prstGeom>
          <a:noFill/>
        </p:spPr>
        <p:txBody>
          <a:bodyPr wrap="square" lIns="36576" rIns="36576" tIns="36576" bIns="36576">
            <a:spAutoFit/>
          </a:bodyPr>
          <a:lstStyle/>
          <a:p>
            <a:pPr algn="ctr">
              <a:defRPr sz="1000" b="1">
                <a:solidFill>
                  <a:srgbClr val="080D1C"/>
                </a:solidFill>
                <a:latin typeface="Arial"/>
              </a:defRPr>
            </a:pPr>
            <a:r>
              <a:t>LINKEDIN</a:t>
            </a:r>
          </a:p>
        </p:txBody>
      </p:sp>
      <p:pic>
        <p:nvPicPr>
          <p:cNvPr id="14" name="Picture 13" descr="linkedin_qr_cropped.png"/>
          <p:cNvPicPr>
            <a:picLocks noChangeAspect="1"/>
          </p:cNvPicPr>
          <p:nvPr/>
        </p:nvPicPr>
        <p:blipFill>
          <a:blip r:embed="rId4"/>
          <a:stretch>
            <a:fillRect/>
          </a:stretch>
        </p:blipFill>
        <p:spPr>
          <a:xfrm>
            <a:off x="8375904" y="1645920"/>
            <a:ext cx="2743200" cy="2743200"/>
          </a:xfrm>
          <a:prstGeom prst="rect">
            <a:avLst/>
          </a:prstGeom>
        </p:spPr>
      </p:pic>
      <p:sp>
        <p:nvSpPr>
          <p:cNvPr id="15" name="TextBox 14"/>
          <p:cNvSpPr txBox="1"/>
          <p:nvPr/>
        </p:nvSpPr>
        <p:spPr>
          <a:xfrm>
            <a:off x="8156448" y="4480560"/>
            <a:ext cx="3182112" cy="1828800"/>
          </a:xfrm>
          <a:prstGeom prst="rect">
            <a:avLst/>
          </a:prstGeom>
          <a:noFill/>
        </p:spPr>
        <p:txBody>
          <a:bodyPr wrap="square" lIns="36576" rIns="36576" tIns="36576" bIns="36576">
            <a:spAutoFit/>
          </a:bodyPr>
          <a:lstStyle/>
          <a:p>
            <a:pPr algn="ctr">
              <a:spcAft>
                <a:spcPts val="400"/>
              </a:spcAft>
              <a:defRPr sz="1700" b="1">
                <a:solidFill>
                  <a:srgbClr val="080D1C"/>
                </a:solidFill>
                <a:latin typeface="Georgia"/>
              </a:defRPr>
            </a:pPr>
            <a:r>
              <a:t>RAHAT MIT BENGALURU</a:t>
            </a:r>
          </a:p>
          <a:p>
            <a:pPr algn="ctr">
              <a:defRPr sz="1000">
                <a:solidFill>
                  <a:srgbClr val="646978"/>
                </a:solidFill>
                <a:latin typeface="Arial"/>
              </a:defRPr>
            </a:pPr>
            <a:r>
              <a:t>Professional network &amp; collaborations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2EA"/>
        </a:solidFill>
        <a:effectLst/>
      </p:bgPr>
    </p:bg>
    <p:spTree>
      <p:nvGrpSpPr>
        <p:cNvPr id="1" name=""/>
        <p:cNvGrpSpPr/>
        <p:nvPr/>
      </p:nvGrpSpPr>
      <p:grpSpPr/>
      <p:pic>
        <p:nvPicPr>
          <p:cNvPr id="2" name="Picture 1" descr="rahat_logo.jpeg"/>
          <p:cNvPicPr>
            <a:picLocks noChangeAspect="1"/>
          </p:cNvPicPr>
          <p:nvPr/>
        </p:nvPicPr>
        <p:blipFill>
          <a:blip r:embed="rId2"/>
          <a:stretch>
            <a:fillRect/>
          </a:stretch>
        </p:blipFill>
        <p:spPr>
          <a:xfrm>
            <a:off x="5501030" y="347472"/>
            <a:ext cx="1188720" cy="1188720"/>
          </a:xfrm>
          <a:prstGeom prst="rect">
            <a:avLst/>
          </a:prstGeom>
        </p:spPr>
      </p:pic>
      <p:sp>
        <p:nvSpPr>
          <p:cNvPr id="3" name="TextBox 2"/>
          <p:cNvSpPr txBox="1"/>
          <p:nvPr/>
        </p:nvSpPr>
        <p:spPr>
          <a:xfrm>
            <a:off x="914400" y="1600200"/>
            <a:ext cx="10362895" cy="1645920"/>
          </a:xfrm>
          <a:prstGeom prst="rect">
            <a:avLst/>
          </a:prstGeom>
          <a:noFill/>
        </p:spPr>
        <p:txBody>
          <a:bodyPr wrap="square" lIns="36576" rIns="36576" tIns="36576" bIns="36576">
            <a:spAutoFit/>
          </a:bodyPr>
          <a:lstStyle/>
          <a:p>
            <a:pPr algn="ctr">
              <a:spcAft>
                <a:spcPts val="100"/>
              </a:spcAft>
              <a:defRPr sz="3400" b="1">
                <a:solidFill>
                  <a:srgbClr val="080D1C"/>
                </a:solidFill>
                <a:latin typeface="Georgia"/>
              </a:defRPr>
            </a:pPr>
            <a:r>
              <a:t>RAHAT</a:t>
            </a:r>
          </a:p>
          <a:p>
            <a:pPr algn="ctr">
              <a:spcAft>
                <a:spcPts val="200"/>
              </a:spcAft>
              <a:defRPr sz="1100" b="1">
                <a:solidFill>
                  <a:srgbClr val="E7193F"/>
                </a:solidFill>
                <a:latin typeface="Arial"/>
              </a:defRPr>
            </a:pPr>
            <a:r>
              <a:t>AND THIS IS ONLY THE BEGINNING.</a:t>
            </a:r>
          </a:p>
          <a:p>
            <a:pPr algn="ctr">
              <a:spcAft>
                <a:spcPts val="200"/>
              </a:spcAft>
              <a:defRPr sz="1400" i="1">
                <a:solidFill>
                  <a:srgbClr val="080D1C"/>
                </a:solidFill>
                <a:latin typeface="Georgia"/>
              </a:defRPr>
            </a:pPr>
            <a:r>
              <a:t>More conversations. More stories. More spaces. More people.</a:t>
            </a:r>
          </a:p>
          <a:p>
            <a:pPr algn="ctr">
              <a:defRPr sz="1800" b="1" i="1">
                <a:solidFill>
                  <a:srgbClr val="E7193F"/>
                </a:solidFill>
                <a:latin typeface="Georgia"/>
              </a:defRPr>
            </a:pPr>
            <a:r>
              <a:t>Rahat to all.</a:t>
            </a:r>
          </a:p>
        </p:txBody>
      </p:sp>
      <p:sp>
        <p:nvSpPr>
          <p:cNvPr id="4" name="Rounded Rectangle 3"/>
          <p:cNvSpPr/>
          <p:nvPr/>
        </p:nvSpPr>
        <p:spPr>
          <a:xfrm>
            <a:off x="731520" y="3364992"/>
            <a:ext cx="3401568" cy="3218688"/>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chsolstice_nexus_collage_02.jpeg"/>
          <p:cNvPicPr>
            <a:picLocks noChangeAspect="1"/>
          </p:cNvPicPr>
          <p:nvPr/>
        </p:nvPicPr>
        <p:blipFill>
          <a:blip r:embed="rId3"/>
          <a:stretch>
            <a:fillRect/>
          </a:stretch>
        </p:blipFill>
        <p:spPr>
          <a:xfrm>
            <a:off x="731520" y="3364992"/>
            <a:ext cx="3401568" cy="2834640"/>
          </a:xfrm>
          <a:prstGeom prst="rect">
            <a:avLst/>
          </a:prstGeom>
        </p:spPr>
      </p:pic>
      <p:sp>
        <p:nvSpPr>
          <p:cNvPr id="6" name="TextBox 5"/>
          <p:cNvSpPr txBox="1"/>
          <p:nvPr/>
        </p:nvSpPr>
        <p:spPr>
          <a:xfrm>
            <a:off x="731520" y="6217920"/>
            <a:ext cx="3401568" cy="347472"/>
          </a:xfrm>
          <a:prstGeom prst="rect">
            <a:avLst/>
          </a:prstGeom>
          <a:noFill/>
        </p:spPr>
        <p:txBody>
          <a:bodyPr wrap="square" lIns="36576" rIns="36576" tIns="36576" bIns="36576">
            <a:spAutoFit/>
          </a:bodyPr>
          <a:lstStyle/>
          <a:p>
            <a:pPr algn="ctr">
              <a:defRPr sz="950" b="1">
                <a:solidFill>
                  <a:srgbClr val="080D1C"/>
                </a:solidFill>
                <a:latin typeface="Arial"/>
              </a:defRPr>
            </a:pPr>
            <a:r>
              <a:t>COMMUNITY NEXUS</a:t>
            </a:r>
          </a:p>
        </p:txBody>
      </p:sp>
      <p:sp>
        <p:nvSpPr>
          <p:cNvPr id="7" name="Rounded Rectangle 6"/>
          <p:cNvSpPr/>
          <p:nvPr/>
        </p:nvSpPr>
        <p:spPr>
          <a:xfrm>
            <a:off x="4389120" y="3364992"/>
            <a:ext cx="3401568" cy="3218688"/>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ratitude_board_scrapbooking.jpeg"/>
          <p:cNvPicPr>
            <a:picLocks noChangeAspect="1"/>
          </p:cNvPicPr>
          <p:nvPr/>
        </p:nvPicPr>
        <p:blipFill>
          <a:blip r:embed="rId4"/>
          <a:stretch>
            <a:fillRect/>
          </a:stretch>
        </p:blipFill>
        <p:spPr>
          <a:xfrm>
            <a:off x="4389120" y="3364992"/>
            <a:ext cx="3401568" cy="2834640"/>
          </a:xfrm>
          <a:prstGeom prst="rect">
            <a:avLst/>
          </a:prstGeom>
        </p:spPr>
      </p:pic>
      <p:sp>
        <p:nvSpPr>
          <p:cNvPr id="9" name="TextBox 8"/>
          <p:cNvSpPr txBox="1"/>
          <p:nvPr/>
        </p:nvSpPr>
        <p:spPr>
          <a:xfrm>
            <a:off x="4389120" y="6217920"/>
            <a:ext cx="3401568" cy="347472"/>
          </a:xfrm>
          <a:prstGeom prst="rect">
            <a:avLst/>
          </a:prstGeom>
          <a:noFill/>
        </p:spPr>
        <p:txBody>
          <a:bodyPr wrap="square" lIns="36576" rIns="36576" tIns="36576" bIns="36576">
            <a:spAutoFit/>
          </a:bodyPr>
          <a:lstStyle/>
          <a:p>
            <a:pPr algn="ctr">
              <a:defRPr sz="950" b="1">
                <a:solidFill>
                  <a:srgbClr val="080D1C"/>
                </a:solidFill>
                <a:latin typeface="Arial"/>
              </a:defRPr>
            </a:pPr>
            <a:r>
              <a:t>GRATITUDE &amp; EXPRESSION</a:t>
            </a:r>
          </a:p>
        </p:txBody>
      </p:sp>
      <p:sp>
        <p:nvSpPr>
          <p:cNvPr id="10" name="Rounded Rectangle 9"/>
          <p:cNvSpPr/>
          <p:nvPr/>
        </p:nvSpPr>
        <p:spPr>
          <a:xfrm>
            <a:off x="8046720" y="3364992"/>
            <a:ext cx="3401568" cy="3218688"/>
          </a:xfrm>
          <a:prstGeom prst="roundRect">
            <a:avLst/>
          </a:prstGeom>
          <a:solidFill>
            <a:srgbClr val="FFFFFF"/>
          </a:solidFill>
          <a:ln>
            <a:solidFill>
              <a:srgbClr val="E1D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vent_writing_frame.png"/>
          <p:cNvPicPr>
            <a:picLocks noChangeAspect="1"/>
          </p:cNvPicPr>
          <p:nvPr/>
        </p:nvPicPr>
        <p:blipFill>
          <a:blip r:embed="rId5"/>
          <a:stretch>
            <a:fillRect/>
          </a:stretch>
        </p:blipFill>
        <p:spPr>
          <a:xfrm>
            <a:off x="8046720" y="3364992"/>
            <a:ext cx="3401568" cy="2834640"/>
          </a:xfrm>
          <a:prstGeom prst="rect">
            <a:avLst/>
          </a:prstGeom>
        </p:spPr>
      </p:pic>
      <p:sp>
        <p:nvSpPr>
          <p:cNvPr id="12" name="TextBox 11"/>
          <p:cNvSpPr txBox="1"/>
          <p:nvPr/>
        </p:nvSpPr>
        <p:spPr>
          <a:xfrm>
            <a:off x="8046720" y="6217920"/>
            <a:ext cx="3401568" cy="347472"/>
          </a:xfrm>
          <a:prstGeom prst="rect">
            <a:avLst/>
          </a:prstGeom>
          <a:noFill/>
        </p:spPr>
        <p:txBody>
          <a:bodyPr wrap="square" lIns="36576" rIns="36576" tIns="36576" bIns="36576">
            <a:spAutoFit/>
          </a:bodyPr>
          <a:lstStyle/>
          <a:p>
            <a:pPr algn="ctr">
              <a:defRPr sz="950" b="1">
                <a:solidFill>
                  <a:srgbClr val="080D1C"/>
                </a:solidFill>
                <a:latin typeface="Arial"/>
              </a:defRPr>
            </a:pPr>
            <a:r>
              <a:t>SHARED STORIES &amp; REFLECTIONS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