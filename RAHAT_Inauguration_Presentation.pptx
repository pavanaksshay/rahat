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2.jp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13.jp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ha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790" y="731520"/>
            <a:ext cx="2743200" cy="274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566160"/>
            <a:ext cx="10362895" cy="29260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800"/>
              </a:spcAft>
              <a:defRPr sz="1100" b="1">
                <a:solidFill>
                  <a:srgbClr val="646978"/>
                </a:solidFill>
                <a:latin typeface="Arial"/>
              </a:defRPr>
            </a:pPr>
            <a:r>
              <a:t>ESTABLISHED 2023  •  MIT BENGALURU</a:t>
            </a:r>
          </a:p>
          <a:p>
            <a:pPr algn="ctr">
              <a:spcAft>
                <a:spcPts val="1200"/>
              </a:spcAft>
              <a:defRPr sz="6400" b="1">
                <a:solidFill>
                  <a:srgbClr val="080D1C"/>
                </a:solidFill>
                <a:latin typeface="Georgia"/>
              </a:defRPr>
            </a:pPr>
            <a:r>
              <a:t>RAHAT</a:t>
            </a:r>
          </a:p>
          <a:p>
            <a:pPr algn="ctr">
              <a:spcAft>
                <a:spcPts val="1400"/>
              </a:spcAft>
              <a:defRPr sz="1800" i="1">
                <a:solidFill>
                  <a:srgbClr val="080D1C"/>
                </a:solidFill>
                <a:latin typeface="Georgia"/>
              </a:defRPr>
            </a:pPr>
            <a:r>
              <a:t>A student-led club and media house focused on mental well-being.</a:t>
            </a:r>
          </a:p>
          <a:p>
            <a:pPr algn="ctr">
              <a:defRPr sz="1300" b="1">
                <a:solidFill>
                  <a:srgbClr val="E7193F"/>
                </a:solidFill>
                <a:latin typeface="Arial"/>
              </a:defRPr>
            </a:pPr>
            <a:r>
              <a:t>MAKING SPACE  •  Rahat to 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 — MAKING SPACE</a:t>
            </a:r>
          </a:p>
        </p:txBody>
      </p:sp>
      <p:pic>
        <p:nvPicPr>
          <p:cNvPr id="3" name="Picture 2" descr="rahat_booth_students_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3291840" cy="5303520"/>
          </a:xfrm>
          <a:prstGeom prst="rect">
            <a:avLst/>
          </a:prstGeom>
        </p:spPr>
      </p:pic>
      <p:pic>
        <p:nvPicPr>
          <p:cNvPr id="4" name="Picture 3" descr="classroom_talk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914400"/>
            <a:ext cx="219456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1188720"/>
            <a:ext cx="4754880" cy="4937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7193F"/>
                </a:solidFill>
                <a:latin typeface="Arial"/>
              </a:defRPr>
            </a:pPr>
            <a:r>
              <a:t>THE PREMISE</a:t>
            </a:r>
          </a:p>
          <a:p>
            <a:pPr>
              <a:spcAft>
                <a:spcPts val="1800"/>
              </a:spcAft>
              <a:defRPr sz="3600" b="1">
                <a:solidFill>
                  <a:srgbClr val="080D1C"/>
                </a:solidFill>
                <a:latin typeface="Georgia"/>
              </a:defRPr>
            </a:pPr>
            <a:r>
              <a:t>What does feeling okay look like?</a:t>
            </a:r>
          </a:p>
          <a:p>
            <a:pPr>
              <a:spcAft>
                <a:spcPts val="1800"/>
              </a:spcAft>
              <a:defRPr sz="2000" i="1">
                <a:solidFill>
                  <a:srgbClr val="080D1C"/>
                </a:solidFill>
                <a:latin typeface="Georgia"/>
              </a:defRPr>
            </a:pPr>
            <a:r>
              <a:t>“Sometimes, it doesn’t look like a formal conversation about mental health.”</a:t>
            </a:r>
          </a:p>
          <a:p>
            <a:pPr>
              <a:defRPr sz="1800" b="1">
                <a:solidFill>
                  <a:srgbClr val="E7193F"/>
                </a:solidFill>
                <a:latin typeface="Arial"/>
              </a:defRPr>
            </a:pPr>
            <a:r>
              <a:t>Sometimes, it simply looks like finding a space to be.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 — PURPOSE &amp;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400" b="1">
                <a:solidFill>
                  <a:srgbClr val="080D1C"/>
                </a:solidFill>
                <a:latin typeface="Georgia"/>
              </a:defRPr>
            </a:pPr>
            <a:r>
              <a:t>WHY JOIN RAHAT?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9436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566928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80D1C"/>
                </a:solidFill>
                <a:latin typeface="Arial"/>
              </a:defRPr>
            </a:pPr>
            <a:r>
              <a:t>01  •  A Judgement-Free Sanctuary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No expectations, hierarchy, or burnout pressure. A comforting haven where you can decompress, share, and be your authentic 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59436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566928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80D1C"/>
                </a:solidFill>
                <a:latin typeface="Arial"/>
              </a:defRPr>
            </a:pPr>
            <a:r>
              <a:t>02  •  Creative &amp; Media Expression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Channel your voice through film screenings, podcast production, visual design, creative writing, and digital media that creates social impact.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0440"/>
            <a:ext cx="59436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566928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80D1C"/>
                </a:solidFill>
                <a:latin typeface="Arial"/>
              </a:defRPr>
            </a:pPr>
            <a:r>
              <a:t>03  •  Hands-On Campus Leadership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Gain real-world experience organizing 700+ attendee flagship events, interactive workshops, open theatre, and vibrant campus carnivals.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59436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71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566928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E7193F"/>
                </a:solidFill>
                <a:latin typeface="Arial"/>
              </a:defRPr>
            </a:pPr>
            <a:r>
              <a:t>04  •  Deep &amp; Lifelong Bonds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Connect with thoughtful, warm peers across batches who listen without judgment and make wellness an everyday reality.</a:t>
            </a:r>
          </a:p>
        </p:txBody>
      </p:sp>
      <p:pic>
        <p:nvPicPr>
          <p:cNvPr id="12" name="Picture 11" descr="techsolstice_nexus_group_activity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234440"/>
            <a:ext cx="4526280" cy="4480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E7193F"/>
                </a:solidFill>
                <a:latin typeface="Arial"/>
              </a:defRPr>
            </a:pPr>
            <a:r>
              <a:t>“YOU DON’T JUST JOIN A CLUB — YOU HELP BUILD A SPACE WHERE EVERYONE CAN BREATHE.”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II — EVOLUTION OF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400" b="1">
                <a:solidFill>
                  <a:srgbClr val="080D1C"/>
                </a:solidFill>
                <a:latin typeface="Georgia"/>
              </a:defRPr>
            </a:pPr>
            <a:r>
              <a:t>FROM WHERE WE STARTED  ➔  TO WHERE WE ARE GOING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466344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646978"/>
                </a:solidFill>
                <a:latin typeface="Arial"/>
              </a:defRPr>
            </a:pPr>
            <a:r>
              <a:t>THEN  •  THE FOUNDATION (ESTD. 2023)</a:t>
            </a:r>
          </a:p>
        </p:txBody>
      </p:sp>
      <p:pic>
        <p:nvPicPr>
          <p:cNvPr id="6" name="Picture 5" descr="rahat_old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37360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80D1C"/>
                </a:solidFill>
                <a:latin typeface="Arial"/>
              </a:defRPr>
            </a:pPr>
            <a:r>
              <a:t>STUDENT WELL-BEING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743200"/>
            <a:ext cx="1371600" cy="10972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3600">
                <a:solidFill>
                  <a:srgbClr val="E7193F"/>
                </a:solidFill>
                <a:latin typeface="Arial"/>
              </a:defRPr>
            </a:pPr>
            <a:r>
              <a:t>➔</a:t>
            </a:r>
          </a:p>
          <a:p>
            <a:pPr algn="ctr">
              <a:defRPr sz="900" b="1">
                <a:solidFill>
                  <a:srgbClr val="E7193F"/>
                </a:solidFill>
                <a:latin typeface="Arial"/>
              </a:defRPr>
            </a:pPr>
            <a:r>
              <a:t>EXPANSION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96735" y="1280160"/>
            <a:ext cx="466344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71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6735" y="13716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E7193F"/>
                </a:solidFill>
                <a:latin typeface="Arial"/>
              </a:defRPr>
            </a:pPr>
            <a:r>
              <a:t>NOW  •  THE NEW CHAPTER</a:t>
            </a:r>
          </a:p>
        </p:txBody>
      </p:sp>
      <p:pic>
        <p:nvPicPr>
          <p:cNvPr id="11" name="Picture 10" descr="rahat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55" y="1737360"/>
            <a:ext cx="3200400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6735" y="50292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E7193F"/>
                </a:solidFill>
                <a:latin typeface="Arial"/>
              </a:defRPr>
            </a:pPr>
            <a:r>
              <a:t>STUDENT CLUB &amp; MEDIA HOUSE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32120"/>
            <a:ext cx="10698480" cy="10058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900" b="1">
                <a:solidFill>
                  <a:srgbClr val="080D1C"/>
                </a:solidFill>
                <a:latin typeface="Georgia"/>
              </a:defRPr>
            </a:pPr>
            <a:r>
              <a:t>“Same purpose. A wider canvas.”</a:t>
            </a:r>
          </a:p>
          <a:p>
            <a:pPr algn="ctr">
              <a:defRPr sz="1300" i="1">
                <a:solidFill>
                  <a:srgbClr val="646978"/>
                </a:solidFill>
                <a:latin typeface="Georgia"/>
              </a:defRPr>
            </a:pPr>
            <a:r>
              <a:t>From a student-led mental well-being community to a space for conversations, creativity, connection and stories that matter.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II — WHAT WE HAVE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200" b="1">
                <a:solidFill>
                  <a:srgbClr val="080D1C"/>
                </a:solidFill>
                <a:latin typeface="Georgia"/>
              </a:defRPr>
            </a:pPr>
            <a:r>
              <a:t>“We started by creating space for expression, creativity and play.”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338328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elings_board_activity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38328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663440"/>
            <a:ext cx="3108960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E7193F"/>
                </a:solidFill>
                <a:latin typeface="Arial"/>
              </a:defRPr>
            </a:pPr>
            <a:r>
              <a:t>INTERACTIVE CHECK-IN</a:t>
            </a:r>
          </a:p>
          <a:p>
            <a:pPr>
              <a:spcAft>
                <a:spcPts val="400"/>
              </a:spcAft>
              <a:defRPr sz="1300" b="1">
                <a:solidFill>
                  <a:srgbClr val="080D1C"/>
                </a:solidFill>
                <a:latin typeface="Georgia"/>
              </a:defRPr>
            </a:pPr>
            <a:r>
              <a:t>FEELINGS &amp; GRATITUDE BOARD</a:t>
            </a:r>
          </a:p>
          <a:p>
            <a:pPr>
              <a:defRPr sz="900">
                <a:solidFill>
                  <a:srgbClr val="646978"/>
                </a:solidFill>
                <a:latin typeface="Arial"/>
              </a:defRPr>
            </a:pPr>
            <a:r>
              <a:t>Open student board giving every emotion a voice on campus without hesitation.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38328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novritti_group_phot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234440"/>
            <a:ext cx="33832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26280" y="4663440"/>
            <a:ext cx="3108960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E7193F"/>
                </a:solidFill>
                <a:latin typeface="Arial"/>
              </a:defRPr>
            </a:pPr>
            <a:r>
              <a:t>ART &amp; MINDFULNESS</a:t>
            </a:r>
          </a:p>
          <a:p>
            <a:pPr>
              <a:spcAft>
                <a:spcPts val="400"/>
              </a:spcAft>
              <a:defRPr sz="1300" b="1">
                <a:solidFill>
                  <a:srgbClr val="080D1C"/>
                </a:solidFill>
                <a:latin typeface="Georgia"/>
              </a:defRPr>
            </a:pPr>
            <a:r>
              <a:t>MANOVRITTI ART WORKSHOP</a:t>
            </a:r>
          </a:p>
          <a:p>
            <a:pPr>
              <a:defRPr sz="900">
                <a:solidFill>
                  <a:srgbClr val="646978"/>
                </a:solidFill>
                <a:latin typeface="Arial"/>
              </a:defRPr>
            </a:pPr>
            <a:r>
              <a:t>Tote bag painting and mindful art circles connecting inner expression to creativity.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34440"/>
            <a:ext cx="338328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mory_box_ac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234440"/>
            <a:ext cx="338328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3880" y="4663440"/>
            <a:ext cx="3108960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E7193F"/>
                </a:solidFill>
                <a:latin typeface="Arial"/>
              </a:defRPr>
            </a:pPr>
            <a:r>
              <a:t>ANONYMOUS REFLECTION</a:t>
            </a:r>
          </a:p>
          <a:p>
            <a:pPr>
              <a:spcAft>
                <a:spcPts val="400"/>
              </a:spcAft>
              <a:defRPr sz="1300" b="1">
                <a:solidFill>
                  <a:srgbClr val="080D1C"/>
                </a:solidFill>
                <a:latin typeface="Georgia"/>
              </a:defRPr>
            </a:pPr>
            <a:r>
              <a:t>THE MEMORY BOX</a:t>
            </a:r>
          </a:p>
          <a:p>
            <a:pPr>
              <a:defRPr sz="900">
                <a:solidFill>
                  <a:srgbClr val="646978"/>
                </a:solidFill>
                <a:latin typeface="Arial"/>
              </a:defRPr>
            </a:pPr>
            <a:r>
              <a:t>A safe space for heartfelt thoughts, shared stories, and unsaid emotions.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III — THE HORIZON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5120640" cy="55778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47548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600" b="1">
                <a:solidFill>
                  <a:srgbClr val="080D1C"/>
                </a:solidFill>
                <a:latin typeface="Georgia"/>
              </a:defRPr>
            </a:pPr>
            <a:r>
              <a:t>WE STARTED BY CREATING SPACE</a:t>
            </a:r>
          </a:p>
        </p:txBody>
      </p:sp>
      <p:pic>
        <p:nvPicPr>
          <p:cNvPr id="5" name="Picture 4" descr="manovritti_painting_closeup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2331720" cy="4206240"/>
          </a:xfrm>
          <a:prstGeom prst="rect">
            <a:avLst/>
          </a:prstGeom>
        </p:spPr>
      </p:pic>
      <p:pic>
        <p:nvPicPr>
          <p:cNvPr id="6" name="Picture 5" descr="rahat_booth_students_0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417320"/>
            <a:ext cx="23317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777240"/>
            <a:ext cx="5120640" cy="5577840"/>
          </a:xfrm>
          <a:prstGeom prst="roundRect">
            <a:avLst/>
          </a:prstGeom>
          <a:solidFill>
            <a:srgbClr val="FFFFFF"/>
          </a:solidFill>
          <a:ln>
            <a:solidFill>
              <a:srgbClr val="E71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47548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600" b="1">
                <a:solidFill>
                  <a:srgbClr val="E7193F"/>
                </a:solidFill>
                <a:latin typeface="Georgia"/>
              </a:defRPr>
            </a:pPr>
            <a:r>
              <a:t>NOW, WE'RE MAKING THE SPACE BIGGER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17320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463040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01  •  RAHAT AS A MEDIA HOUSE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Conversations with people who create social impact.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514600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02  •  RAHAT CARNIVAL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A day of games, activities, creativity and connection.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611880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657600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03  •  OPEN THEATRE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Movies, conversations and shared experiences under one roof.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709159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754879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04  •  CONTINUING THE CORE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Mental well-being remains at the heart of everything we 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IV — SCALE &amp; MOMENTUM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3931920" cy="29260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200"/>
              </a:spcAft>
              <a:defRPr sz="6400" b="1">
                <a:solidFill>
                  <a:srgbClr val="FFFFFF"/>
                </a:solidFill>
                <a:latin typeface="Georgia"/>
              </a:defRPr>
            </a:pPr>
            <a:r>
              <a:t>700+</a:t>
            </a:r>
          </a:p>
          <a:p>
            <a:pPr>
              <a:spcAft>
                <a:spcPts val="400"/>
              </a:spcAft>
              <a:defRPr sz="1800" b="1">
                <a:solidFill>
                  <a:srgbClr val="E7193F"/>
                </a:solidFill>
                <a:latin typeface="Arial"/>
              </a:defRPr>
            </a:pPr>
            <a:r>
              <a:t>REGISTRATIONS</a:t>
            </a:r>
          </a:p>
          <a:p>
            <a:pPr>
              <a:spcAft>
                <a:spcPts val="800"/>
              </a:spcAft>
              <a:defRPr sz="1200" b="1">
                <a:solidFill>
                  <a:srgbClr val="D6A85D"/>
                </a:solidFill>
                <a:latin typeface="Arial"/>
              </a:defRPr>
            </a:pPr>
            <a:r>
              <a:t>ONE PACKED HOUSE</a:t>
            </a:r>
          </a:p>
          <a:p>
            <a:pPr>
              <a:defRPr sz="1300" i="1">
                <a:solidFill>
                  <a:srgbClr val="FFFFFF"/>
                </a:solidFill>
                <a:latin typeface="Georgia"/>
              </a:defRPr>
            </a:pPr>
            <a:r>
              <a:t>“A room full of people who showed up, watched, laughed, and shared the moment.”</a:t>
            </a:r>
          </a:p>
        </p:txBody>
      </p:sp>
      <p:pic>
        <p:nvPicPr>
          <p:cNvPr id="4" name="Picture 3" descr="700_plus_registrations_packed_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31920"/>
            <a:ext cx="3931920" cy="2423160"/>
          </a:xfrm>
          <a:prstGeom prst="rect">
            <a:avLst/>
          </a:prstGeom>
        </p:spPr>
      </p:pic>
      <p:pic>
        <p:nvPicPr>
          <p:cNvPr id="5" name="video_02_audience_wi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892040" y="822960"/>
            <a:ext cx="3840480" cy="5486400"/>
          </a:xfrm>
          <a:prstGeom prst="rect">
            <a:avLst/>
          </a:prstGeom>
        </p:spPr>
      </p:pic>
      <p:pic>
        <p:nvPicPr>
          <p:cNvPr id="6" name="video_03_auditorium_screen_vertical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869680" y="822960"/>
            <a:ext cx="1463040" cy="5486400"/>
          </a:xfrm>
          <a:prstGeom prst="rect">
            <a:avLst/>
          </a:prstGeom>
        </p:spPr>
      </p:pic>
      <p:pic>
        <p:nvPicPr>
          <p:cNvPr id="7" name="video_06_event_vertical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0469880" y="822960"/>
            <a:ext cx="1463040" cy="548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V — THE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200" b="1">
                <a:solidFill>
                  <a:srgbClr val="080D1C"/>
                </a:solidFill>
                <a:latin typeface="Georgia"/>
              </a:defRPr>
            </a:pPr>
            <a:r>
              <a:t>THE PEOPLE BEHIND RAHAT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051560"/>
            <a:ext cx="301752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nvi_pic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143000"/>
            <a:ext cx="11887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1325880"/>
            <a:ext cx="1508760" cy="1463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800" b="1">
                <a:solidFill>
                  <a:srgbClr val="080D1C"/>
                </a:solidFill>
                <a:latin typeface="Georgia"/>
              </a:defRPr>
            </a:pPr>
            <a:r>
              <a:t>TANVI</a:t>
            </a:r>
          </a:p>
          <a:p>
            <a:pPr>
              <a:defRPr sz="1100" b="1">
                <a:solidFill>
                  <a:srgbClr val="E7193F"/>
                </a:solidFill>
                <a:latin typeface="Arial"/>
              </a:defRPr>
            </a:pPr>
            <a:r>
              <a:t>PRESIDENT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051560"/>
            <a:ext cx="301752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van_pic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43000"/>
            <a:ext cx="118872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1325880"/>
            <a:ext cx="1508760" cy="1463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800" b="1">
                <a:solidFill>
                  <a:srgbClr val="080D1C"/>
                </a:solidFill>
                <a:latin typeface="Georgia"/>
              </a:defRPr>
            </a:pPr>
            <a:r>
              <a:t>PAVAN</a:t>
            </a:r>
          </a:p>
          <a:p>
            <a:pPr>
              <a:defRPr sz="1100" b="1">
                <a:solidFill>
                  <a:srgbClr val="E7193F"/>
                </a:solidFill>
                <a:latin typeface="Arial"/>
              </a:defRPr>
            </a:pPr>
            <a:r>
              <a:t>VICE PRESIDENT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nish_pic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86199"/>
            <a:ext cx="1673352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TANISH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GENERAL SECRETARY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98648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kshita_pic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886199"/>
            <a:ext cx="1673352" cy="1828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898648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AKSHITA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CREATIVE LEAD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5776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aasini_pic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656" y="3886199"/>
            <a:ext cx="1673352" cy="1828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65776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HAASINI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OPERATIONS LEAD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2904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keshav_pic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5784" y="3886199"/>
            <a:ext cx="1673352" cy="1828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32904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KESHAV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TREASURER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00032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nya_pic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2912" y="3886199"/>
            <a:ext cx="1673352" cy="1828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00032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MANYA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WEB &amp; SOCIAL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VI — CONNECT WITH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400" b="1">
                <a:solidFill>
                  <a:srgbClr val="080D1C"/>
                </a:solidFill>
                <a:latin typeface="Georgia"/>
              </a:defRPr>
            </a:pPr>
            <a:r>
              <a:t>BE A PART OF THE CONVERSATION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333756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E7193F"/>
                </a:solidFill>
                <a:latin typeface="Arial"/>
              </a:defRPr>
            </a:pPr>
            <a:r>
              <a:t>WHATSAPP COMMUNITY</a:t>
            </a:r>
          </a:p>
        </p:txBody>
      </p:sp>
      <p:pic>
        <p:nvPicPr>
          <p:cNvPr id="6" name="Picture 5" descr="whatsap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173736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297680"/>
            <a:ext cx="3063240" cy="1828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080D1C"/>
                </a:solidFill>
                <a:latin typeface="Georgia"/>
              </a:defRPr>
            </a:pPr>
            <a:r>
              <a:t>RAHAT COMMUNITY</a:t>
            </a:r>
          </a:p>
          <a:p>
            <a:pPr algn="ctr">
              <a:defRPr sz="950">
                <a:solidFill>
                  <a:srgbClr val="646978"/>
                </a:solidFill>
                <a:latin typeface="Arial"/>
              </a:defRPr>
            </a:pPr>
            <a:r>
              <a:t>Group chats, announcements &amp; safe 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188720"/>
            <a:ext cx="333756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1325880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E7193F"/>
                </a:solidFill>
                <a:latin typeface="Arial"/>
              </a:defRPr>
            </a:pPr>
            <a:r>
              <a:t>INSTAGRAM</a:t>
            </a:r>
          </a:p>
        </p:txBody>
      </p:sp>
      <p:pic>
        <p:nvPicPr>
          <p:cNvPr id="10" name="Picture 9" descr="insta_qr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612" y="173736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53712" y="4297680"/>
            <a:ext cx="3063240" cy="1828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080D1C"/>
                </a:solidFill>
                <a:latin typeface="Georgia"/>
              </a:defRPr>
            </a:pPr>
            <a:r>
              <a:t>@rahat.mitb</a:t>
            </a:r>
          </a:p>
          <a:p>
            <a:pPr algn="ctr">
              <a:defRPr sz="950">
                <a:solidFill>
                  <a:srgbClr val="646978"/>
                </a:solidFill>
                <a:latin typeface="Arial"/>
              </a:defRPr>
            </a:pPr>
            <a:r>
              <a:t>Follow for stories, event updates &amp; reels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188720"/>
            <a:ext cx="333756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01584" y="1325880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080D1C"/>
                </a:solidFill>
                <a:latin typeface="Arial"/>
              </a:defRPr>
            </a:pPr>
            <a:r>
              <a:t>LINKEDIN</a:t>
            </a:r>
          </a:p>
        </p:txBody>
      </p:sp>
      <p:pic>
        <p:nvPicPr>
          <p:cNvPr id="14" name="Picture 13" descr="linkedin_qr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644" y="1737360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38744" y="4297680"/>
            <a:ext cx="3063240" cy="1828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080D1C"/>
                </a:solidFill>
                <a:latin typeface="Georgia"/>
              </a:defRPr>
            </a:pPr>
            <a:r>
              <a:t>Rahat MIT Bengaluru</a:t>
            </a:r>
          </a:p>
          <a:p>
            <a:pPr algn="ctr">
              <a:defRPr sz="950">
                <a:solidFill>
                  <a:srgbClr val="646978"/>
                </a:solidFill>
                <a:latin typeface="Arial"/>
              </a:defRPr>
            </a:pPr>
            <a:r>
              <a:t>Professional network &amp; student leadership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ha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870" y="457200"/>
            <a:ext cx="1463040" cy="1463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10362895" cy="21031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200"/>
              </a:spcAft>
              <a:defRPr sz="3600" b="1">
                <a:solidFill>
                  <a:srgbClr val="080D1C"/>
                </a:solidFill>
                <a:latin typeface="Georgia"/>
              </a:defRPr>
            </a:pPr>
            <a:r>
              <a:t>RAHAT</a:t>
            </a:r>
          </a:p>
          <a:p>
            <a:pPr algn="ctr">
              <a:spcAft>
                <a:spcPts val="400"/>
              </a:spcAft>
              <a:defRPr sz="1100" b="1">
                <a:solidFill>
                  <a:srgbClr val="E7193F"/>
                </a:solidFill>
                <a:latin typeface="Arial"/>
              </a:defRPr>
            </a:pPr>
            <a:r>
              <a:t>AND THIS IS ONLY THE BEGINNING.</a:t>
            </a:r>
          </a:p>
          <a:p>
            <a:pPr algn="ctr">
              <a:spcAft>
                <a:spcPts val="400"/>
              </a:spcAft>
              <a:defRPr sz="1400" i="1">
                <a:solidFill>
                  <a:srgbClr val="080D1C"/>
                </a:solidFill>
                <a:latin typeface="Georgia"/>
              </a:defRPr>
            </a:pPr>
            <a:r>
              <a:t>More conversations. More stories. More spaces. More people.</a:t>
            </a:r>
          </a:p>
          <a:p>
            <a:pPr algn="ctr">
              <a:defRPr sz="1800" b="1" i="1">
                <a:solidFill>
                  <a:srgbClr val="E7193F"/>
                </a:solidFill>
                <a:latin typeface="Georgia"/>
              </a:defRPr>
            </a:pPr>
            <a:r>
              <a:t>Rahat to all.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297680"/>
            <a:ext cx="33375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chsolstice_nexus_collage_0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297680"/>
            <a:ext cx="33375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53328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850" b="1">
                <a:solidFill>
                  <a:srgbClr val="080D1C"/>
                </a:solidFill>
                <a:latin typeface="Arial"/>
              </a:defRPr>
            </a:pPr>
            <a:r>
              <a:t>COMMUNITY NEXUS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4297680"/>
            <a:ext cx="33375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atitude_board_scrapbooking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4297680"/>
            <a:ext cx="33375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16552" y="6053328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850" b="1">
                <a:solidFill>
                  <a:srgbClr val="080D1C"/>
                </a:solidFill>
                <a:latin typeface="Arial"/>
              </a:defRPr>
            </a:pPr>
            <a:r>
              <a:t>GRATITUDE &amp; EXPRESSION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4" y="4297680"/>
            <a:ext cx="33375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vent_writing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4297680"/>
            <a:ext cx="3337560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1584" y="6053328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850" b="1">
                <a:solidFill>
                  <a:srgbClr val="080D1C"/>
                </a:solidFill>
                <a:latin typeface="Arial"/>
              </a:defRPr>
            </a:pPr>
            <a:r>
              <a:t>SHARED REFLECTIONS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