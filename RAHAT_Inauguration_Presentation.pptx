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3.jp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14.jpg"/><Relationship Id="rId9" Type="http://schemas.microsoft.com/office/2007/relationships/media" Target="../media/media3.mp4"/><Relationship Id="rId10" Type="http://schemas.openxmlformats.org/officeDocument/2006/relationships/video" Target="../media/media3.mp4"/><Relationship Id="rId11" Type="http://schemas.openxmlformats.org/officeDocument/2006/relationships/image" Target="../media/image1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hat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3790" y="731520"/>
            <a:ext cx="2743200" cy="2743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566160"/>
            <a:ext cx="10362895" cy="29260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spcAft>
                <a:spcPts val="800"/>
              </a:spcAft>
              <a:defRPr sz="1100" b="1">
                <a:solidFill>
                  <a:srgbClr val="646978"/>
                </a:solidFill>
                <a:latin typeface="Arial"/>
              </a:defRPr>
            </a:pPr>
            <a:r>
              <a:t>ESTABLISHED 2023  •  MIT BENGALURU</a:t>
            </a:r>
          </a:p>
          <a:p>
            <a:pPr algn="ctr">
              <a:spcAft>
                <a:spcPts val="1200"/>
              </a:spcAft>
              <a:defRPr sz="6400" b="1">
                <a:solidFill>
                  <a:srgbClr val="080D1C"/>
                </a:solidFill>
                <a:latin typeface="Georgia"/>
              </a:defRPr>
            </a:pPr>
            <a:r>
              <a:t>RAHAT</a:t>
            </a:r>
          </a:p>
          <a:p>
            <a:pPr algn="ctr">
              <a:spcAft>
                <a:spcPts val="1400"/>
              </a:spcAft>
              <a:defRPr sz="1800" i="1">
                <a:solidFill>
                  <a:srgbClr val="080D1C"/>
                </a:solidFill>
                <a:latin typeface="Georgia"/>
              </a:defRPr>
            </a:pPr>
            <a:r>
              <a:t>A student-led club and media house focused on mental well-being.</a:t>
            </a:r>
          </a:p>
          <a:p>
            <a:pPr algn="ctr">
              <a:defRPr sz="1300" b="1">
                <a:solidFill>
                  <a:srgbClr val="E7193F"/>
                </a:solidFill>
                <a:latin typeface="Arial"/>
              </a:defRPr>
            </a:pPr>
            <a:r>
              <a:t>MAKING SPACE  •  Rahat to all.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1000" b="1">
                <a:solidFill>
                  <a:srgbClr val="E7193F"/>
                </a:solidFill>
                <a:latin typeface="Arial"/>
              </a:defRPr>
            </a:pPr>
            <a:r>
              <a:t>—  ACT I — MAKING SPACE</a:t>
            </a:r>
          </a:p>
        </p:txBody>
      </p:sp>
      <p:pic>
        <p:nvPicPr>
          <p:cNvPr id="3" name="Picture 2" descr="rahat_booth_students_0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14400"/>
            <a:ext cx="3291840" cy="5303520"/>
          </a:xfrm>
          <a:prstGeom prst="rect">
            <a:avLst/>
          </a:prstGeom>
        </p:spPr>
      </p:pic>
      <p:pic>
        <p:nvPicPr>
          <p:cNvPr id="4" name="Picture 3" descr="classroom_talk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914400"/>
            <a:ext cx="219456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20840" y="1188720"/>
            <a:ext cx="4754880" cy="49377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7193F"/>
                </a:solidFill>
                <a:latin typeface="Arial"/>
              </a:defRPr>
            </a:pPr>
            <a:r>
              <a:t>THE PREMISE</a:t>
            </a:r>
          </a:p>
          <a:p>
            <a:pPr>
              <a:spcAft>
                <a:spcPts val="1800"/>
              </a:spcAft>
              <a:defRPr sz="3600" b="1">
                <a:solidFill>
                  <a:srgbClr val="080D1C"/>
                </a:solidFill>
                <a:latin typeface="Georgia"/>
              </a:defRPr>
            </a:pPr>
            <a:r>
              <a:t>What does feeling okay look like?</a:t>
            </a:r>
          </a:p>
          <a:p>
            <a:pPr>
              <a:spcAft>
                <a:spcPts val="1800"/>
              </a:spcAft>
              <a:defRPr sz="2000" i="1">
                <a:solidFill>
                  <a:srgbClr val="080D1C"/>
                </a:solidFill>
                <a:latin typeface="Georgia"/>
              </a:defRPr>
            </a:pPr>
            <a:r>
              <a:t>“Sometimes, it doesn’t look like a formal conversation about mental health.”</a:t>
            </a:r>
          </a:p>
          <a:p>
            <a:pPr>
              <a:defRPr sz="1800" b="1">
                <a:solidFill>
                  <a:srgbClr val="E7193F"/>
                </a:solidFill>
                <a:latin typeface="Arial"/>
              </a:defRPr>
            </a:pPr>
            <a:r>
              <a:t>Sometimes, it simply looks like finding a space to be.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1000" b="1">
                <a:solidFill>
                  <a:srgbClr val="E7193F"/>
                </a:solidFill>
                <a:latin typeface="Arial"/>
              </a:defRPr>
            </a:pPr>
            <a:r>
              <a:t>—  ACT I — PURPOSE &amp; COMMUNITY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2400" b="1">
                <a:solidFill>
                  <a:srgbClr val="080D1C"/>
                </a:solidFill>
                <a:latin typeface="Georgia"/>
              </a:defRPr>
            </a:pPr>
            <a:r>
              <a:t>WHY JOIN RAHAT?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297180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2697480" cy="18288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80D1C"/>
                </a:solidFill>
                <a:latin typeface="Arial"/>
              </a:defRPr>
            </a:pPr>
            <a:r>
              <a:t>01  •  A Judgement-Free Sanctuary</a:t>
            </a:r>
          </a:p>
          <a:p>
            <a:pPr>
              <a:defRPr sz="950">
                <a:solidFill>
                  <a:srgbClr val="646978"/>
                </a:solidFill>
                <a:latin typeface="Arial"/>
              </a:defRPr>
            </a:pPr>
            <a:r>
              <a:t>No expectations or burnout pressure. A comforting campus haven where you can decompress, share, and be yourself.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280160"/>
            <a:ext cx="297180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77640" y="1417320"/>
            <a:ext cx="2697480" cy="18288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80D1C"/>
                </a:solidFill>
                <a:latin typeface="Arial"/>
              </a:defRPr>
            </a:pPr>
            <a:r>
              <a:t>02  •  Creative &amp; Media Expression</a:t>
            </a:r>
          </a:p>
          <a:p>
            <a:pPr>
              <a:defRPr sz="950">
                <a:solidFill>
                  <a:srgbClr val="646978"/>
                </a:solidFill>
                <a:latin typeface="Arial"/>
              </a:defRPr>
            </a:pPr>
            <a:r>
              <a:t>Channel your voice through film screenings, podcast production, visual design, and storytelling that sparks empathy.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520440"/>
            <a:ext cx="297180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657600"/>
            <a:ext cx="2697480" cy="18288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80D1C"/>
                </a:solidFill>
                <a:latin typeface="Arial"/>
              </a:defRPr>
            </a:pPr>
            <a:r>
              <a:t>03  •  Hands-On Campus Leadership</a:t>
            </a:r>
          </a:p>
          <a:p>
            <a:pPr>
              <a:defRPr sz="950">
                <a:solidFill>
                  <a:srgbClr val="646978"/>
                </a:solidFill>
                <a:latin typeface="Arial"/>
              </a:defRPr>
            </a:pPr>
            <a:r>
              <a:t>Gain real-world experience organizing 700+ attendee flagship events, interactive workshops, and carnivals.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3520440"/>
            <a:ext cx="297180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71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40" y="3657600"/>
            <a:ext cx="2697480" cy="18288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E7193F"/>
                </a:solidFill>
                <a:latin typeface="Arial"/>
              </a:defRPr>
            </a:pPr>
            <a:r>
              <a:t>04  •  Deep &amp; Lifelong Bonds</a:t>
            </a:r>
          </a:p>
          <a:p>
            <a:pPr>
              <a:defRPr sz="950">
                <a:solidFill>
                  <a:srgbClr val="646978"/>
                </a:solidFill>
                <a:latin typeface="Arial"/>
              </a:defRPr>
            </a:pPr>
            <a:r>
              <a:t>Connect with thoughtful, warm peers across batches who listen without judgment and make wellness a priority.</a:t>
            </a:r>
          </a:p>
        </p:txBody>
      </p:sp>
      <p:pic>
        <p:nvPicPr>
          <p:cNvPr id="12" name="Picture 11" descr="techsolstice_nexus_group_activity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280160"/>
            <a:ext cx="4297680" cy="2103120"/>
          </a:xfrm>
          <a:prstGeom prst="rect">
            <a:avLst/>
          </a:prstGeom>
        </p:spPr>
      </p:pic>
      <p:pic>
        <p:nvPicPr>
          <p:cNvPr id="13" name="Picture 12" descr="post_it_wall_activit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3520440"/>
            <a:ext cx="4297680" cy="21031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" y="5897880"/>
            <a:ext cx="10698480" cy="4572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000" b="1">
                <a:solidFill>
                  <a:srgbClr val="E7193F"/>
                </a:solidFill>
                <a:latin typeface="Arial"/>
              </a:defRPr>
            </a:pPr>
            <a:r>
              <a:t>“YOU DON’T JUST JOIN A CLUB — YOU HELP BUILD A SPACE WHERE EVERYONE CAN BREATHE.”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1000" b="1">
                <a:solidFill>
                  <a:srgbClr val="E7193F"/>
                </a:solidFill>
                <a:latin typeface="Arial"/>
              </a:defRPr>
            </a:pPr>
            <a:r>
              <a:t>—  ACT II — EVOLUTION OF IDENTITY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2400" b="1">
                <a:solidFill>
                  <a:srgbClr val="080D1C"/>
                </a:solidFill>
                <a:latin typeface="Georgia"/>
              </a:defRPr>
            </a:pPr>
            <a:r>
              <a:t>FROM WHERE WE STARTED  ➔  TO WHERE WE ARE GOING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466344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66344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646978"/>
                </a:solidFill>
                <a:latin typeface="Arial"/>
              </a:defRPr>
            </a:pPr>
            <a:r>
              <a:t>THEN  •  THE FOUNDATION (ESTD. 2023)</a:t>
            </a:r>
          </a:p>
        </p:txBody>
      </p:sp>
      <p:pic>
        <p:nvPicPr>
          <p:cNvPr id="6" name="Picture 5" descr="rahat_old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737360"/>
            <a:ext cx="320040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029200"/>
            <a:ext cx="466344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080D1C"/>
                </a:solidFill>
                <a:latin typeface="Arial"/>
              </a:defRPr>
            </a:pPr>
            <a:r>
              <a:t>STUDENT WELL-BEING COMMUNITY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2743200"/>
            <a:ext cx="1371600" cy="10972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3600">
                <a:solidFill>
                  <a:srgbClr val="E7193F"/>
                </a:solidFill>
                <a:latin typeface="Arial"/>
              </a:defRPr>
            </a:pPr>
            <a:r>
              <a:t>➔</a:t>
            </a:r>
          </a:p>
          <a:p>
            <a:pPr algn="ctr">
              <a:defRPr sz="900" b="1">
                <a:solidFill>
                  <a:srgbClr val="E7193F"/>
                </a:solidFill>
                <a:latin typeface="Arial"/>
              </a:defRPr>
            </a:pPr>
            <a:r>
              <a:t>EXPANSION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96735" y="1280160"/>
            <a:ext cx="466344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71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96735" y="1371600"/>
            <a:ext cx="466344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E7193F"/>
                </a:solidFill>
                <a:latin typeface="Arial"/>
              </a:defRPr>
            </a:pPr>
            <a:r>
              <a:t>NOW  •  THE NEW CHAPTER</a:t>
            </a:r>
          </a:p>
        </p:txBody>
      </p:sp>
      <p:pic>
        <p:nvPicPr>
          <p:cNvPr id="11" name="Picture 10" descr="rahat_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8255" y="1737360"/>
            <a:ext cx="3200400" cy="3200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96735" y="5029200"/>
            <a:ext cx="466344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100" b="1">
                <a:solidFill>
                  <a:srgbClr val="E7193F"/>
                </a:solidFill>
                <a:latin typeface="Arial"/>
              </a:defRPr>
            </a:pPr>
            <a:r>
              <a:t>STUDENT CLUB &amp; MEDIA HOUSE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532120"/>
            <a:ext cx="10698480" cy="10058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900" b="1">
                <a:solidFill>
                  <a:srgbClr val="080D1C"/>
                </a:solidFill>
                <a:latin typeface="Georgia"/>
              </a:defRPr>
            </a:pPr>
            <a:r>
              <a:t>“Same purpose. A wider canvas.”</a:t>
            </a:r>
          </a:p>
          <a:p>
            <a:pPr algn="ctr">
              <a:defRPr sz="1300" i="1">
                <a:solidFill>
                  <a:srgbClr val="646978"/>
                </a:solidFill>
                <a:latin typeface="Georgia"/>
              </a:defRPr>
            </a:pPr>
            <a:r>
              <a:t>From a student-led mental well-being community to a space for conversations, creativity, connection and stories that matter.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1000" b="1">
                <a:solidFill>
                  <a:srgbClr val="E7193F"/>
                </a:solidFill>
                <a:latin typeface="Arial"/>
              </a:defRPr>
            </a:pPr>
            <a:r>
              <a:t>—  ACT II — WHAT WE HAVE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4572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2200" b="1">
                <a:solidFill>
                  <a:srgbClr val="080D1C"/>
                </a:solidFill>
                <a:latin typeface="Georgia"/>
              </a:defRPr>
            </a:pPr>
            <a:r>
              <a:t>“We started by creating space for expression, creativity and play.”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3383280" cy="512064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eelings_board_activity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3383280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663440"/>
            <a:ext cx="3108960" cy="1554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E7193F"/>
                </a:solidFill>
                <a:latin typeface="Arial"/>
              </a:defRPr>
            </a:pPr>
            <a:r>
              <a:t>INTERACTIVE CHECK-IN</a:t>
            </a:r>
          </a:p>
          <a:p>
            <a:pPr>
              <a:spcAft>
                <a:spcPts val="400"/>
              </a:spcAft>
              <a:defRPr sz="1300" b="1">
                <a:solidFill>
                  <a:srgbClr val="080D1C"/>
                </a:solidFill>
                <a:latin typeface="Georgia"/>
              </a:defRPr>
            </a:pPr>
            <a:r>
              <a:t>FEELINGS &amp; GRATITUDE BOARD</a:t>
            </a:r>
          </a:p>
          <a:p>
            <a:pPr>
              <a:defRPr sz="900">
                <a:solidFill>
                  <a:srgbClr val="646978"/>
                </a:solidFill>
                <a:latin typeface="Arial"/>
              </a:defRPr>
            </a:pPr>
            <a:r>
              <a:t>Open student board giving every emotion a voice on campus without hesitation.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34440"/>
            <a:ext cx="3383280" cy="512064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novritti_group_phot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234440"/>
            <a:ext cx="33832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26280" y="4663440"/>
            <a:ext cx="3108960" cy="1554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E7193F"/>
                </a:solidFill>
                <a:latin typeface="Arial"/>
              </a:defRPr>
            </a:pPr>
            <a:r>
              <a:t>ART &amp; MINDFULNESS</a:t>
            </a:r>
          </a:p>
          <a:p>
            <a:pPr>
              <a:spcAft>
                <a:spcPts val="400"/>
              </a:spcAft>
              <a:defRPr sz="1300" b="1">
                <a:solidFill>
                  <a:srgbClr val="080D1C"/>
                </a:solidFill>
                <a:latin typeface="Georgia"/>
              </a:defRPr>
            </a:pPr>
            <a:r>
              <a:t>MANOVRITTI ART WORKSHOP</a:t>
            </a:r>
          </a:p>
          <a:p>
            <a:pPr>
              <a:defRPr sz="900">
                <a:solidFill>
                  <a:srgbClr val="646978"/>
                </a:solidFill>
                <a:latin typeface="Arial"/>
              </a:defRPr>
            </a:pPr>
            <a:r>
              <a:t>Tote bag painting and mindful art circles connecting inner expression to creativity.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234440"/>
            <a:ext cx="3383280" cy="512064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emory_box_activ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234440"/>
            <a:ext cx="3383280" cy="3291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83880" y="4663440"/>
            <a:ext cx="3108960" cy="1554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E7193F"/>
                </a:solidFill>
                <a:latin typeface="Arial"/>
              </a:defRPr>
            </a:pPr>
            <a:r>
              <a:t>ANONYMOUS REFLECTION</a:t>
            </a:r>
          </a:p>
          <a:p>
            <a:pPr>
              <a:spcAft>
                <a:spcPts val="400"/>
              </a:spcAft>
              <a:defRPr sz="1300" b="1">
                <a:solidFill>
                  <a:srgbClr val="080D1C"/>
                </a:solidFill>
                <a:latin typeface="Georgia"/>
              </a:defRPr>
            </a:pPr>
            <a:r>
              <a:t>THE MEMORY BOX</a:t>
            </a:r>
          </a:p>
          <a:p>
            <a:pPr>
              <a:defRPr sz="900">
                <a:solidFill>
                  <a:srgbClr val="646978"/>
                </a:solidFill>
                <a:latin typeface="Arial"/>
              </a:defRPr>
            </a:pPr>
            <a:r>
              <a:t>A safe space for heartfelt thoughts, shared stories, and unsaid emotions.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1000" b="1">
                <a:solidFill>
                  <a:srgbClr val="E7193F"/>
                </a:solidFill>
                <a:latin typeface="Arial"/>
              </a:defRPr>
            </a:pPr>
            <a:r>
              <a:t>—  ACT III — THE HORIZON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777240"/>
            <a:ext cx="5120640" cy="557784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4754880" cy="4572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1600" b="1">
                <a:solidFill>
                  <a:srgbClr val="080D1C"/>
                </a:solidFill>
                <a:latin typeface="Georgia"/>
              </a:defRPr>
            </a:pPr>
            <a:r>
              <a:t>WE STARTED BY CREATING SPACE</a:t>
            </a:r>
          </a:p>
        </p:txBody>
      </p:sp>
      <p:pic>
        <p:nvPicPr>
          <p:cNvPr id="5" name="Picture 4" descr="manovritti_painting_closeup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17320"/>
            <a:ext cx="2331720" cy="4206240"/>
          </a:xfrm>
          <a:prstGeom prst="rect">
            <a:avLst/>
          </a:prstGeom>
        </p:spPr>
      </p:pic>
      <p:pic>
        <p:nvPicPr>
          <p:cNvPr id="6" name="Picture 5" descr="rahat_booth_students_0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417320"/>
            <a:ext cx="2331720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309360" y="777240"/>
            <a:ext cx="5120640" cy="5577840"/>
          </a:xfrm>
          <a:prstGeom prst="roundRect">
            <a:avLst/>
          </a:prstGeom>
          <a:solidFill>
            <a:srgbClr val="FFFFFF"/>
          </a:solidFill>
          <a:ln>
            <a:solidFill>
              <a:srgbClr val="E71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868680"/>
            <a:ext cx="4754880" cy="4572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1600" b="1">
                <a:solidFill>
                  <a:srgbClr val="E7193F"/>
                </a:solidFill>
                <a:latin typeface="Georgia"/>
              </a:defRPr>
            </a:pPr>
            <a:r>
              <a:t>NOW, WE'RE MAKING THE SPACE BIGGER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417320"/>
            <a:ext cx="4754880" cy="960120"/>
          </a:xfrm>
          <a:prstGeom prst="roundRect">
            <a:avLst/>
          </a:prstGeom>
          <a:solidFill>
            <a:srgbClr val="F7F2EA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463040"/>
            <a:ext cx="4572000" cy="8686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080D1C"/>
                </a:solidFill>
                <a:latin typeface="Arial"/>
              </a:defRPr>
            </a:pPr>
            <a:r>
              <a:t>01  •  RAHAT AS A MEDIA HOUSE</a:t>
            </a:r>
          </a:p>
          <a:p>
            <a:pPr>
              <a:defRPr sz="1000">
                <a:solidFill>
                  <a:srgbClr val="646978"/>
                </a:solidFill>
                <a:latin typeface="Arial"/>
              </a:defRPr>
            </a:pPr>
            <a:r>
              <a:t>Conversations with people who create social impact.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514600"/>
            <a:ext cx="4754880" cy="960120"/>
          </a:xfrm>
          <a:prstGeom prst="roundRect">
            <a:avLst/>
          </a:prstGeom>
          <a:solidFill>
            <a:srgbClr val="F7F2EA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560320"/>
            <a:ext cx="4572000" cy="8686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080D1C"/>
                </a:solidFill>
                <a:latin typeface="Arial"/>
              </a:defRPr>
            </a:pPr>
            <a:r>
              <a:t>02  •  RAHAT CARNIVAL</a:t>
            </a:r>
          </a:p>
          <a:p>
            <a:pPr>
              <a:defRPr sz="1000">
                <a:solidFill>
                  <a:srgbClr val="646978"/>
                </a:solidFill>
                <a:latin typeface="Arial"/>
              </a:defRPr>
            </a:pPr>
            <a:r>
              <a:t>A day of games, activities, creativity and connection.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611880"/>
            <a:ext cx="4754880" cy="960120"/>
          </a:xfrm>
          <a:prstGeom prst="roundRect">
            <a:avLst/>
          </a:prstGeom>
          <a:solidFill>
            <a:srgbClr val="F7F2EA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3657600"/>
            <a:ext cx="4572000" cy="8686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080D1C"/>
                </a:solidFill>
                <a:latin typeface="Arial"/>
              </a:defRPr>
            </a:pPr>
            <a:r>
              <a:t>03  •  OPEN THEATRE</a:t>
            </a:r>
          </a:p>
          <a:p>
            <a:pPr>
              <a:defRPr sz="1000">
                <a:solidFill>
                  <a:srgbClr val="646978"/>
                </a:solidFill>
                <a:latin typeface="Arial"/>
              </a:defRPr>
            </a:pPr>
            <a:r>
              <a:t>Movies, conversations and shared experiences under one roof.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4709159"/>
            <a:ext cx="4754880" cy="960120"/>
          </a:xfrm>
          <a:prstGeom prst="roundRect">
            <a:avLst/>
          </a:prstGeom>
          <a:solidFill>
            <a:srgbClr val="F7F2EA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4754879"/>
            <a:ext cx="4572000" cy="8686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080D1C"/>
                </a:solidFill>
                <a:latin typeface="Arial"/>
              </a:defRPr>
            </a:pPr>
            <a:r>
              <a:t>04  •  CONTINUING THE CORE</a:t>
            </a:r>
          </a:p>
          <a:p>
            <a:pPr>
              <a:defRPr sz="1000">
                <a:solidFill>
                  <a:srgbClr val="646978"/>
                </a:solidFill>
                <a:latin typeface="Arial"/>
              </a:defRPr>
            </a:pPr>
            <a:r>
              <a:t>Mental well-being remains at the heart of everything we 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1000" b="1">
                <a:solidFill>
                  <a:srgbClr val="E7193F"/>
                </a:solidFill>
                <a:latin typeface="Arial"/>
              </a:defRPr>
            </a:pPr>
            <a:r>
              <a:t>—  ACT IV — SCALE &amp; MOMENTUM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3931920" cy="29260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spcAft>
                <a:spcPts val="200"/>
              </a:spcAft>
              <a:defRPr sz="6400" b="1">
                <a:solidFill>
                  <a:srgbClr val="FFFFFF"/>
                </a:solidFill>
                <a:latin typeface="Georgia"/>
              </a:defRPr>
            </a:pPr>
            <a:r>
              <a:t>700+</a:t>
            </a:r>
          </a:p>
          <a:p>
            <a:pPr>
              <a:spcAft>
                <a:spcPts val="400"/>
              </a:spcAft>
              <a:defRPr sz="1800" b="1">
                <a:solidFill>
                  <a:srgbClr val="E7193F"/>
                </a:solidFill>
                <a:latin typeface="Arial"/>
              </a:defRPr>
            </a:pPr>
            <a:r>
              <a:t>REGISTRATIONS</a:t>
            </a:r>
          </a:p>
          <a:p>
            <a:pPr>
              <a:spcAft>
                <a:spcPts val="800"/>
              </a:spcAft>
              <a:defRPr sz="1200" b="1">
                <a:solidFill>
                  <a:srgbClr val="D6A85D"/>
                </a:solidFill>
                <a:latin typeface="Arial"/>
              </a:defRPr>
            </a:pPr>
            <a:r>
              <a:t>ONE PACKED HOUSE</a:t>
            </a:r>
          </a:p>
          <a:p>
            <a:pPr>
              <a:defRPr sz="1300" i="1">
                <a:solidFill>
                  <a:srgbClr val="FFFFFF"/>
                </a:solidFill>
                <a:latin typeface="Georgia"/>
              </a:defRPr>
            </a:pPr>
            <a:r>
              <a:t>“A room full of people who showed up, watched, laughed, and shared the moment.”</a:t>
            </a:r>
          </a:p>
        </p:txBody>
      </p:sp>
      <p:pic>
        <p:nvPicPr>
          <p:cNvPr id="4" name="Picture 3" descr="700_plus_registrations_packed_ho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931920"/>
            <a:ext cx="3931920" cy="2423160"/>
          </a:xfrm>
          <a:prstGeom prst="rect">
            <a:avLst/>
          </a:prstGeom>
        </p:spPr>
      </p:pic>
      <p:pic>
        <p:nvPicPr>
          <p:cNvPr id="5" name="video_02_audience_wid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892040" y="822960"/>
            <a:ext cx="3840480" cy="5486400"/>
          </a:xfrm>
          <a:prstGeom prst="rect">
            <a:avLst/>
          </a:prstGeom>
        </p:spPr>
      </p:pic>
      <p:pic>
        <p:nvPicPr>
          <p:cNvPr id="6" name="video_03_auditorium_screen_vertical.mp4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869680" y="822960"/>
            <a:ext cx="1463040" cy="5486400"/>
          </a:xfrm>
          <a:prstGeom prst="rect">
            <a:avLst/>
          </a:prstGeom>
        </p:spPr>
      </p:pic>
      <p:pic>
        <p:nvPicPr>
          <p:cNvPr id="7" name="video_06_event_vertical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10469880" y="822960"/>
            <a:ext cx="1463040" cy="5486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1000" b="1">
                <a:solidFill>
                  <a:srgbClr val="E7193F"/>
                </a:solidFill>
                <a:latin typeface="Arial"/>
              </a:defRPr>
            </a:pPr>
            <a:r>
              <a:t>—  ACT V — THE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411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2200" b="1">
                <a:solidFill>
                  <a:srgbClr val="080D1C"/>
                </a:solidFill>
                <a:latin typeface="Georgia"/>
              </a:defRPr>
            </a:pPr>
            <a:r>
              <a:t>THE PEOPLE BEHIND RAHAT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1051560"/>
            <a:ext cx="301752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anvi_pic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143000"/>
            <a:ext cx="1188720" cy="1645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43400" y="1325880"/>
            <a:ext cx="1508760" cy="1463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1800" b="1">
                <a:solidFill>
                  <a:srgbClr val="080D1C"/>
                </a:solidFill>
                <a:latin typeface="Georgia"/>
              </a:defRPr>
            </a:pPr>
            <a:r>
              <a:t>TANVI</a:t>
            </a:r>
          </a:p>
          <a:p>
            <a:pPr>
              <a:defRPr sz="1100" b="1">
                <a:solidFill>
                  <a:srgbClr val="E7193F"/>
                </a:solidFill>
                <a:latin typeface="Arial"/>
              </a:defRPr>
            </a:pPr>
            <a:r>
              <a:t>PRESIDENT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051560"/>
            <a:ext cx="301752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van_pic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43000"/>
            <a:ext cx="1188720" cy="1645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80960" y="1325880"/>
            <a:ext cx="1508760" cy="1463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1800" b="1">
                <a:solidFill>
                  <a:srgbClr val="080D1C"/>
                </a:solidFill>
                <a:latin typeface="Georgia"/>
              </a:defRPr>
            </a:pPr>
            <a:r>
              <a:t>PAVAN</a:t>
            </a:r>
          </a:p>
          <a:p>
            <a:pPr>
              <a:defRPr sz="1100" b="1">
                <a:solidFill>
                  <a:srgbClr val="E7193F"/>
                </a:solidFill>
                <a:latin typeface="Arial"/>
              </a:defRPr>
            </a:pPr>
            <a:r>
              <a:t>VICE PRESIDENT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49039"/>
            <a:ext cx="2039112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nish_pic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886199"/>
            <a:ext cx="1673352" cy="1828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5760719"/>
            <a:ext cx="2039112" cy="6858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300" b="1">
                <a:solidFill>
                  <a:srgbClr val="080D1C"/>
                </a:solidFill>
                <a:latin typeface="Georgia"/>
              </a:defRPr>
            </a:pPr>
            <a:r>
              <a:t>TANISH</a:t>
            </a:r>
          </a:p>
          <a:p>
            <a:pPr algn="ctr">
              <a:defRPr sz="850" b="1">
                <a:solidFill>
                  <a:srgbClr val="E7193F"/>
                </a:solidFill>
                <a:latin typeface="Arial"/>
              </a:defRPr>
            </a:pPr>
            <a:r>
              <a:t>GENERAL SECRETARY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98648" y="3749039"/>
            <a:ext cx="2039112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kshita_pic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1528" y="3886199"/>
            <a:ext cx="1673352" cy="1828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898648" y="5760719"/>
            <a:ext cx="2039112" cy="6858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300" b="1">
                <a:solidFill>
                  <a:srgbClr val="080D1C"/>
                </a:solidFill>
                <a:latin typeface="Georgia"/>
              </a:defRPr>
            </a:pPr>
            <a:r>
              <a:t>AKSHITA</a:t>
            </a:r>
          </a:p>
          <a:p>
            <a:pPr algn="ctr">
              <a:defRPr sz="850" b="1">
                <a:solidFill>
                  <a:srgbClr val="E7193F"/>
                </a:solidFill>
                <a:latin typeface="Arial"/>
              </a:defRPr>
            </a:pPr>
            <a:r>
              <a:t>CREATIVE LEAD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65776" y="3749039"/>
            <a:ext cx="2039112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haasini_pic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8656" y="3886199"/>
            <a:ext cx="1673352" cy="1828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65776" y="5760719"/>
            <a:ext cx="2039112" cy="6858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300" b="1">
                <a:solidFill>
                  <a:srgbClr val="080D1C"/>
                </a:solidFill>
                <a:latin typeface="Georgia"/>
              </a:defRPr>
            </a:pPr>
            <a:r>
              <a:t>HAASINI</a:t>
            </a:r>
          </a:p>
          <a:p>
            <a:pPr algn="ctr">
              <a:defRPr sz="850" b="1">
                <a:solidFill>
                  <a:srgbClr val="E7193F"/>
                </a:solidFill>
                <a:latin typeface="Arial"/>
              </a:defRPr>
            </a:pPr>
            <a:r>
              <a:t>OPERATIONS LEAD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32904" y="3749039"/>
            <a:ext cx="2039112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keshav_pic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15784" y="3886199"/>
            <a:ext cx="1673352" cy="1828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232904" y="5760719"/>
            <a:ext cx="2039112" cy="6858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300" b="1">
                <a:solidFill>
                  <a:srgbClr val="080D1C"/>
                </a:solidFill>
                <a:latin typeface="Georgia"/>
              </a:defRPr>
            </a:pPr>
            <a:r>
              <a:t>KESHAV</a:t>
            </a:r>
          </a:p>
          <a:p>
            <a:pPr algn="ctr">
              <a:defRPr sz="850" b="1">
                <a:solidFill>
                  <a:srgbClr val="E7193F"/>
                </a:solidFill>
                <a:latin typeface="Arial"/>
              </a:defRPr>
            </a:pPr>
            <a:r>
              <a:t>TREASURER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00032" y="3749039"/>
            <a:ext cx="2039112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anya_pic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82912" y="3886199"/>
            <a:ext cx="1673352" cy="18288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00032" y="5760719"/>
            <a:ext cx="2039112" cy="6858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300" b="1">
                <a:solidFill>
                  <a:srgbClr val="080D1C"/>
                </a:solidFill>
                <a:latin typeface="Georgia"/>
              </a:defRPr>
            </a:pPr>
            <a:r>
              <a:t>MANYA</a:t>
            </a:r>
          </a:p>
          <a:p>
            <a:pPr algn="ctr">
              <a:defRPr sz="850" b="1">
                <a:solidFill>
                  <a:srgbClr val="E7193F"/>
                </a:solidFill>
                <a:latin typeface="Arial"/>
              </a:defRPr>
            </a:pPr>
            <a:r>
              <a:t>WEB &amp; SOCIAL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1000" b="1">
                <a:solidFill>
                  <a:srgbClr val="E7193F"/>
                </a:solidFill>
                <a:latin typeface="Arial"/>
              </a:defRPr>
            </a:pPr>
            <a:r>
              <a:t>—  ACT VI — CONNECT WITH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>
              <a:defRPr sz="2600" b="1">
                <a:solidFill>
                  <a:srgbClr val="080D1C"/>
                </a:solidFill>
                <a:latin typeface="Georgia"/>
              </a:defRPr>
            </a:pPr>
            <a:r>
              <a:t>BE A PART OF THE CONVERSATION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371600"/>
            <a:ext cx="457200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sta_qr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600200"/>
            <a:ext cx="3108960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4800600"/>
            <a:ext cx="4572000" cy="12801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400" b="1">
                <a:solidFill>
                  <a:srgbClr val="E7193F"/>
                </a:solidFill>
                <a:latin typeface="Arial"/>
              </a:defRPr>
            </a:pPr>
            <a:r>
              <a:t>INSTAGRAM</a:t>
            </a:r>
          </a:p>
          <a:p>
            <a:pPr algn="ctr">
              <a:defRPr sz="1800" b="1">
                <a:solidFill>
                  <a:srgbClr val="080D1C"/>
                </a:solidFill>
                <a:latin typeface="Georgia"/>
              </a:defRPr>
            </a:pPr>
            <a:r>
              <a:t>@rahat.mitb</a:t>
            </a:r>
          </a:p>
          <a:p>
            <a:pPr algn="ctr">
              <a:defRPr sz="1000">
                <a:solidFill>
                  <a:srgbClr val="646978"/>
                </a:solidFill>
                <a:latin typeface="Arial"/>
              </a:defRPr>
            </a:pPr>
            <a:r>
              <a:t>Follow for stories, event updates, reels &amp; community initiatives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22415" y="1371600"/>
            <a:ext cx="457200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1D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inkedin_qr_cropp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3935" y="1600200"/>
            <a:ext cx="310896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22415" y="4800600"/>
            <a:ext cx="4572000" cy="12801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defRPr sz="1400" b="1">
                <a:solidFill>
                  <a:srgbClr val="E7193F"/>
                </a:solidFill>
                <a:latin typeface="Arial"/>
              </a:defRPr>
            </a:pPr>
            <a:r>
              <a:t>LINKEDIN</a:t>
            </a:r>
          </a:p>
          <a:p>
            <a:pPr algn="ctr">
              <a:defRPr sz="1800" b="1">
                <a:solidFill>
                  <a:srgbClr val="080D1C"/>
                </a:solidFill>
                <a:latin typeface="Georgia"/>
              </a:defRPr>
            </a:pPr>
            <a:r>
              <a:t>Rahat MIT Bengaluru</a:t>
            </a:r>
          </a:p>
          <a:p>
            <a:pPr algn="ctr">
              <a:defRPr sz="1000">
                <a:solidFill>
                  <a:srgbClr val="646978"/>
                </a:solidFill>
                <a:latin typeface="Arial"/>
              </a:defRPr>
            </a:pPr>
            <a:r>
              <a:t>Connect for collaborations, panels &amp; student leadership networks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hat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2390" y="914400"/>
            <a:ext cx="2286000" cy="228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474720"/>
            <a:ext cx="10362895" cy="29260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spcAft>
                <a:spcPts val="800"/>
              </a:spcAft>
              <a:defRPr sz="4400" b="1">
                <a:solidFill>
                  <a:srgbClr val="080D1C"/>
                </a:solidFill>
                <a:latin typeface="Georgia"/>
              </a:defRPr>
            </a:pPr>
            <a:r>
              <a:t>“MAKING SPACE”</a:t>
            </a:r>
          </a:p>
          <a:p>
            <a:pPr algn="ctr">
              <a:spcAft>
                <a:spcPts val="1400"/>
              </a:spcAft>
              <a:defRPr sz="2600" i="1">
                <a:solidFill>
                  <a:srgbClr val="E7193F"/>
                </a:solidFill>
                <a:latin typeface="Georgia"/>
              </a:defRPr>
            </a:pPr>
            <a:r>
              <a:t>Rahat to all.</a:t>
            </a:r>
          </a:p>
          <a:p>
            <a:pPr algn="ctr">
              <a:defRPr sz="1200" b="1">
                <a:solidFill>
                  <a:srgbClr val="646978"/>
                </a:solidFill>
                <a:latin typeface="Arial"/>
              </a:defRPr>
            </a:pPr>
            <a:r>
              <a:t>mitbengaluru.rahat@gmail.com  •  MIT Bengaluru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