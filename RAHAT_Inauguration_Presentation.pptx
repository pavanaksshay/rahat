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5.jpg"/><Relationship Id="rId4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11.jpg"/><Relationship Id="rId6" Type="http://schemas.microsoft.com/office/2007/relationships/media" Target="../media/media2.mp4"/><Relationship Id="rId7" Type="http://schemas.openxmlformats.org/officeDocument/2006/relationships/video" Target="../media/media2.mp4"/><Relationship Id="rId8" Type="http://schemas.openxmlformats.org/officeDocument/2006/relationships/image" Target="../media/image12.jpg"/><Relationship Id="rId9" Type="http://schemas.microsoft.com/office/2007/relationships/media" Target="../media/media3.mp4"/><Relationship Id="rId10" Type="http://schemas.openxmlformats.org/officeDocument/2006/relationships/video" Target="../media/media3.mp4"/><Relationship Id="rId11" Type="http://schemas.openxmlformats.org/officeDocument/2006/relationships/image" Target="../media/image1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Relationship Id="rId7" Type="http://schemas.openxmlformats.org/officeDocument/2006/relationships/image" Target="../media/image1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ahat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790" y="731520"/>
            <a:ext cx="2743200" cy="274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566160"/>
            <a:ext cx="10362895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646978"/>
                </a:solidFill>
                <a:latin typeface="Arial"/>
              </a:defRPr>
            </a:pPr>
            <a:r>
              <a:t>ESTABLISHED 2023  •  MIT BENGALURU</a:t>
            </a:r>
          </a:p>
          <a:p>
            <a:pPr algn="ctr">
              <a:spcAft>
                <a:spcPts val="1200"/>
              </a:spcAft>
              <a:defRPr sz="6400" b="1">
                <a:solidFill>
                  <a:srgbClr val="080D1C"/>
                </a:solidFill>
                <a:latin typeface="Georgia"/>
              </a:defRPr>
            </a:pPr>
            <a:r>
              <a:t>RAHAT</a:t>
            </a:r>
          </a:p>
          <a:p>
            <a:pPr algn="ctr">
              <a:spcAft>
                <a:spcPts val="1400"/>
              </a:spcAft>
              <a:defRPr sz="1800" i="1">
                <a:solidFill>
                  <a:srgbClr val="080D1C"/>
                </a:solidFill>
                <a:latin typeface="Georgia"/>
              </a:defRPr>
            </a:pPr>
            <a:r>
              <a:t>A student-led club and media house focused on mental well-being.</a:t>
            </a:r>
          </a:p>
          <a:p>
            <a:pPr algn="ctr">
              <a:defRPr sz="1300" b="1">
                <a:solidFill>
                  <a:srgbClr val="E7193F"/>
                </a:solidFill>
                <a:latin typeface="Arial"/>
              </a:defRPr>
            </a:pPr>
            <a:r>
              <a:t>MAKING SPACE  •  Rahat to all.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E7193F"/>
                </a:solidFill>
                <a:latin typeface="Arial"/>
              </a:defRPr>
            </a:pPr>
            <a:r>
              <a:t>—  ACT I — MAKING SPACE</a:t>
            </a:r>
          </a:p>
        </p:txBody>
      </p:sp>
      <p:pic>
        <p:nvPicPr>
          <p:cNvPr id="3" name="Picture 2" descr="rahat_booth_students_0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3291840" cy="5303520"/>
          </a:xfrm>
          <a:prstGeom prst="rect">
            <a:avLst/>
          </a:prstGeom>
        </p:spPr>
      </p:pic>
      <p:pic>
        <p:nvPicPr>
          <p:cNvPr id="4" name="Picture 3" descr="classroom_talk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914400"/>
            <a:ext cx="219456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20840" y="1188720"/>
            <a:ext cx="4754880" cy="4937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E7193F"/>
                </a:solidFill>
                <a:latin typeface="Arial"/>
              </a:defRPr>
            </a:pPr>
            <a:r>
              <a:t>THE PREMISE</a:t>
            </a:r>
          </a:p>
          <a:p>
            <a:pPr>
              <a:spcAft>
                <a:spcPts val="1800"/>
              </a:spcAft>
              <a:defRPr sz="3600" b="1">
                <a:solidFill>
                  <a:srgbClr val="080D1C"/>
                </a:solidFill>
                <a:latin typeface="Georgia"/>
              </a:defRPr>
            </a:pPr>
            <a:r>
              <a:t>What does feeling okay look like?</a:t>
            </a:r>
          </a:p>
          <a:p>
            <a:pPr>
              <a:spcAft>
                <a:spcPts val="1800"/>
              </a:spcAft>
              <a:defRPr sz="2000" i="1">
                <a:solidFill>
                  <a:srgbClr val="080D1C"/>
                </a:solidFill>
                <a:latin typeface="Georgia"/>
              </a:defRPr>
            </a:pPr>
            <a:r>
              <a:t>“Sometimes, it doesn’t look like a formal conversation about mental health.”</a:t>
            </a:r>
          </a:p>
          <a:p>
            <a:pPr>
              <a:defRPr sz="1800" b="1">
                <a:solidFill>
                  <a:srgbClr val="E7193F"/>
                </a:solidFill>
                <a:latin typeface="Arial"/>
              </a:defRPr>
            </a:pPr>
            <a:r>
              <a:t>Sometimes, it simply looks like finding a space to be.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E7193F"/>
                </a:solidFill>
                <a:latin typeface="Arial"/>
              </a:defRPr>
            </a:pPr>
            <a:r>
              <a:t>—  ACT II — EVOLUTION OF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400" b="1">
                <a:solidFill>
                  <a:srgbClr val="080D1C"/>
                </a:solidFill>
                <a:latin typeface="Georgia"/>
              </a:defRPr>
            </a:pPr>
            <a:r>
              <a:t>FROM WHERE WE STARTED  ➔  TO WHERE WE ARE GOING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46634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6634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646978"/>
                </a:solidFill>
                <a:latin typeface="Arial"/>
              </a:defRPr>
            </a:pPr>
            <a:r>
              <a:t>THEN  •  THE FOUNDATION (ESTD. 2023)</a:t>
            </a:r>
          </a:p>
        </p:txBody>
      </p:sp>
      <p:pic>
        <p:nvPicPr>
          <p:cNvPr id="6" name="Picture 5" descr="rahat_old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73736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029200"/>
            <a:ext cx="46634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080D1C"/>
                </a:solidFill>
                <a:latin typeface="Arial"/>
              </a:defRPr>
            </a:pPr>
            <a:r>
              <a:t>STUDENT WELL-BEING COMMUNITY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2743200"/>
            <a:ext cx="1371600" cy="1097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3600">
                <a:solidFill>
                  <a:srgbClr val="E7193F"/>
                </a:solidFill>
                <a:latin typeface="Arial"/>
              </a:defRPr>
            </a:pPr>
            <a:r>
              <a:t>➔</a:t>
            </a:r>
          </a:p>
          <a:p>
            <a:pPr algn="ctr">
              <a:defRPr sz="900" b="1">
                <a:solidFill>
                  <a:srgbClr val="E7193F"/>
                </a:solidFill>
                <a:latin typeface="Arial"/>
              </a:defRPr>
            </a:pPr>
            <a:r>
              <a:t>EXPANSION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96735" y="1280160"/>
            <a:ext cx="46634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71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6735" y="1371600"/>
            <a:ext cx="46634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E7193F"/>
                </a:solidFill>
                <a:latin typeface="Arial"/>
              </a:defRPr>
            </a:pPr>
            <a:r>
              <a:t>NOW  •  THE NEW CHAPTER</a:t>
            </a:r>
          </a:p>
        </p:txBody>
      </p:sp>
      <p:pic>
        <p:nvPicPr>
          <p:cNvPr id="11" name="Picture 10" descr="rahat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255" y="1737360"/>
            <a:ext cx="3200400" cy="3200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96735" y="5029200"/>
            <a:ext cx="46634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E7193F"/>
                </a:solidFill>
                <a:latin typeface="Arial"/>
              </a:defRPr>
            </a:pPr>
            <a:r>
              <a:t>STUDENT CLUB &amp; MEDIA HOUSE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10698480" cy="10058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900" b="1">
                <a:solidFill>
                  <a:srgbClr val="080D1C"/>
                </a:solidFill>
                <a:latin typeface="Georgia"/>
              </a:defRPr>
            </a:pPr>
            <a:r>
              <a:t>“Same purpose. A wider canvas.”</a:t>
            </a:r>
          </a:p>
          <a:p>
            <a:pPr algn="ctr">
              <a:defRPr sz="1300" i="1">
                <a:solidFill>
                  <a:srgbClr val="646978"/>
                </a:solidFill>
                <a:latin typeface="Georgia"/>
              </a:defRPr>
            </a:pPr>
            <a:r>
              <a:t>From a student-led mental well-being community to a space for conversations, creativity, connection and stories that matter.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E7193F"/>
                </a:solidFill>
                <a:latin typeface="Arial"/>
              </a:defRPr>
            </a:pPr>
            <a:r>
              <a:t>—  ACT II — WHAT WE HAVE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200" b="1">
                <a:solidFill>
                  <a:srgbClr val="080D1C"/>
                </a:solidFill>
                <a:latin typeface="Georgia"/>
              </a:defRPr>
            </a:pPr>
            <a:r>
              <a:t>“We started by creating space for expression, creativity and play.”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2039112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POLAROIDS &amp; NOTES</a:t>
            </a:r>
          </a:p>
        </p:txBody>
      </p:sp>
      <p:pic>
        <p:nvPicPr>
          <p:cNvPr id="5" name="Picture 4" descr="feelings_board_activity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648" y="1234440"/>
            <a:ext cx="2039112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98648" y="5943600"/>
            <a:ext cx="2039112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FEELINGS BOARD</a:t>
            </a:r>
          </a:p>
        </p:txBody>
      </p:sp>
      <p:pic>
        <p:nvPicPr>
          <p:cNvPr id="7" name="Picture 6" descr="memory_box_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776" y="1234440"/>
            <a:ext cx="2039112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65776" y="5943600"/>
            <a:ext cx="2039112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MEMORY 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2904" y="5943600"/>
            <a:ext cx="2039112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TREASURE HUNT</a:t>
            </a:r>
          </a:p>
        </p:txBody>
      </p:sp>
      <p:pic>
        <p:nvPicPr>
          <p:cNvPr id="10" name="Picture 9" descr="techsolstice_nexus_group_activity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1234440"/>
            <a:ext cx="2039112" cy="5120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400032" y="5943600"/>
            <a:ext cx="2039112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COMMUNITY SPACE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E7193F"/>
                </a:solidFill>
                <a:latin typeface="Arial"/>
              </a:defRPr>
            </a:pPr>
            <a:r>
              <a:t>—  ACT III — THE HORIZON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5120640" cy="557784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47548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1">
                <a:solidFill>
                  <a:srgbClr val="080D1C"/>
                </a:solidFill>
                <a:latin typeface="Georgia"/>
              </a:defRPr>
            </a:pPr>
            <a:r>
              <a:t>WE STARTED BY CREATING SPACE</a:t>
            </a:r>
          </a:p>
        </p:txBody>
      </p:sp>
      <p:pic>
        <p:nvPicPr>
          <p:cNvPr id="5" name="Picture 4" descr="manovritti_group_phot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2743200" cy="4206240"/>
          </a:xfrm>
          <a:prstGeom prst="rect">
            <a:avLst/>
          </a:prstGeom>
        </p:spPr>
      </p:pic>
      <p:pic>
        <p:nvPicPr>
          <p:cNvPr id="6" name="Picture 5" descr="feelings_board_activit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39" y="1417320"/>
            <a:ext cx="1920240" cy="2011680"/>
          </a:xfrm>
          <a:prstGeom prst="rect">
            <a:avLst/>
          </a:prstGeom>
        </p:spPr>
      </p:pic>
      <p:pic>
        <p:nvPicPr>
          <p:cNvPr id="7" name="Picture 6" descr="rahat_booth_students_0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39" y="3566160"/>
            <a:ext cx="1920240" cy="2057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777240"/>
            <a:ext cx="5120640" cy="5577840"/>
          </a:xfrm>
          <a:prstGeom prst="roundRect">
            <a:avLst/>
          </a:prstGeom>
          <a:solidFill>
            <a:srgbClr val="FFFFFF"/>
          </a:solidFill>
          <a:ln>
            <a:solidFill>
              <a:srgbClr val="E71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868680"/>
            <a:ext cx="47548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1">
                <a:solidFill>
                  <a:srgbClr val="E7193F"/>
                </a:solidFill>
                <a:latin typeface="Georgia"/>
              </a:defRPr>
            </a:pPr>
            <a:r>
              <a:t>NOW, WE'RE MAKING THE SPACE BIGGER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417320"/>
            <a:ext cx="4754880" cy="960120"/>
          </a:xfrm>
          <a:prstGeom prst="roundRect">
            <a:avLst/>
          </a:prstGeom>
          <a:solidFill>
            <a:srgbClr val="F7F2EA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4572000" cy="868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80D1C"/>
                </a:solidFill>
                <a:latin typeface="Arial"/>
              </a:defRPr>
            </a:pPr>
            <a:r>
              <a:t>01  •  RAHAT AS A MEDIA HOUSE</a:t>
            </a:r>
          </a:p>
          <a:p>
            <a:pPr>
              <a:defRPr sz="1000">
                <a:solidFill>
                  <a:srgbClr val="646978"/>
                </a:solidFill>
                <a:latin typeface="Arial"/>
              </a:defRPr>
            </a:pPr>
            <a:r>
              <a:t>Conversations with people who create social impact.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514600"/>
            <a:ext cx="4754880" cy="960120"/>
          </a:xfrm>
          <a:prstGeom prst="roundRect">
            <a:avLst/>
          </a:prstGeom>
          <a:solidFill>
            <a:srgbClr val="F7F2EA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4572000" cy="868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80D1C"/>
                </a:solidFill>
                <a:latin typeface="Arial"/>
              </a:defRPr>
            </a:pPr>
            <a:r>
              <a:t>02  •  RAHAT CARNIVAL</a:t>
            </a:r>
          </a:p>
          <a:p>
            <a:pPr>
              <a:defRPr sz="1000">
                <a:solidFill>
                  <a:srgbClr val="646978"/>
                </a:solidFill>
                <a:latin typeface="Arial"/>
              </a:defRPr>
            </a:pPr>
            <a:r>
              <a:t>A day of games, activities, creativity and connection.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611880"/>
            <a:ext cx="4754880" cy="960120"/>
          </a:xfrm>
          <a:prstGeom prst="roundRect">
            <a:avLst/>
          </a:prstGeom>
          <a:solidFill>
            <a:srgbClr val="F7F2EA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657600"/>
            <a:ext cx="4572000" cy="868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80D1C"/>
                </a:solidFill>
                <a:latin typeface="Arial"/>
              </a:defRPr>
            </a:pPr>
            <a:r>
              <a:t>03  •  OPEN THEATRE</a:t>
            </a:r>
          </a:p>
          <a:p>
            <a:pPr>
              <a:defRPr sz="1000">
                <a:solidFill>
                  <a:srgbClr val="646978"/>
                </a:solidFill>
                <a:latin typeface="Arial"/>
              </a:defRPr>
            </a:pPr>
            <a:r>
              <a:t>Movies, conversations and shared experiences under one roof.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4709159"/>
            <a:ext cx="4754880" cy="960120"/>
          </a:xfrm>
          <a:prstGeom prst="roundRect">
            <a:avLst/>
          </a:prstGeom>
          <a:solidFill>
            <a:srgbClr val="F7F2EA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754879"/>
            <a:ext cx="4572000" cy="8686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80D1C"/>
                </a:solidFill>
                <a:latin typeface="Arial"/>
              </a:defRPr>
            </a:pPr>
            <a:r>
              <a:t>04  •  CONTINUING THE CORE</a:t>
            </a:r>
          </a:p>
          <a:p>
            <a:pPr>
              <a:defRPr sz="1000">
                <a:solidFill>
                  <a:srgbClr val="646978"/>
                </a:solidFill>
                <a:latin typeface="Arial"/>
              </a:defRPr>
            </a:pPr>
            <a:r>
              <a:t>Mental well-being remains at the heart of everything we 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E7193F"/>
                </a:solidFill>
                <a:latin typeface="Arial"/>
              </a:defRPr>
            </a:pPr>
            <a:r>
              <a:t>—  ACT IV — SCALE &amp; MOMENTUM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3931920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200"/>
              </a:spcAft>
              <a:defRPr sz="6400" b="1">
                <a:solidFill>
                  <a:srgbClr val="FFFFFF"/>
                </a:solidFill>
                <a:latin typeface="Georgia"/>
              </a:defRPr>
            </a:pPr>
            <a:r>
              <a:t>700+</a:t>
            </a:r>
          </a:p>
          <a:p>
            <a:pPr>
              <a:spcAft>
                <a:spcPts val="400"/>
              </a:spcAft>
              <a:defRPr sz="1800" b="1">
                <a:solidFill>
                  <a:srgbClr val="E7193F"/>
                </a:solidFill>
                <a:latin typeface="Arial"/>
              </a:defRPr>
            </a:pPr>
            <a:r>
              <a:t>REGISTRATIONS</a:t>
            </a:r>
          </a:p>
          <a:p>
            <a:pPr>
              <a:spcAft>
                <a:spcPts val="800"/>
              </a:spcAft>
              <a:defRPr sz="1200" b="1">
                <a:solidFill>
                  <a:srgbClr val="D6A85D"/>
                </a:solidFill>
                <a:latin typeface="Arial"/>
              </a:defRPr>
            </a:pPr>
            <a:r>
              <a:t>ONE PACKED HOUSE</a:t>
            </a:r>
          </a:p>
          <a:p>
            <a:pPr>
              <a:defRPr sz="1300" i="1">
                <a:solidFill>
                  <a:srgbClr val="FFFFFF"/>
                </a:solidFill>
                <a:latin typeface="Georgia"/>
              </a:defRPr>
            </a:pPr>
            <a:r>
              <a:t>“A room full of people who showed up, watched, laughed, and shared the moment.”</a:t>
            </a:r>
          </a:p>
        </p:txBody>
      </p:sp>
      <p:pic>
        <p:nvPicPr>
          <p:cNvPr id="4" name="Picture 3" descr="700_plus_registrations_packed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931920"/>
            <a:ext cx="3931920" cy="2423160"/>
          </a:xfrm>
          <a:prstGeom prst="rect">
            <a:avLst/>
          </a:prstGeom>
        </p:spPr>
      </p:pic>
      <p:pic>
        <p:nvPicPr>
          <p:cNvPr id="5" name="video_02_audience_wid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892040" y="822960"/>
            <a:ext cx="3840480" cy="5486400"/>
          </a:xfrm>
          <a:prstGeom prst="rect">
            <a:avLst/>
          </a:prstGeom>
        </p:spPr>
      </p:pic>
      <p:pic>
        <p:nvPicPr>
          <p:cNvPr id="6" name="video_03_auditorium_screen_vertical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869680" y="822960"/>
            <a:ext cx="1463040" cy="5486400"/>
          </a:xfrm>
          <a:prstGeom prst="rect">
            <a:avLst/>
          </a:prstGeom>
        </p:spPr>
      </p:pic>
      <p:pic>
        <p:nvPicPr>
          <p:cNvPr id="7" name="video_06_event_vertical.mp4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0469880" y="822960"/>
            <a:ext cx="1463040" cy="548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E7193F"/>
                </a:solidFill>
                <a:latin typeface="Arial"/>
              </a:defRPr>
            </a:pPr>
            <a:r>
              <a:t>—  ACT V — THE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200" b="1">
                <a:solidFill>
                  <a:srgbClr val="080D1C"/>
                </a:solidFill>
                <a:latin typeface="Georgia"/>
              </a:defRPr>
            </a:pPr>
            <a:r>
              <a:t>THE PEOPLE BEHIND RAHAT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051560"/>
            <a:ext cx="301752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17520" y="1143000"/>
            <a:ext cx="2834640" cy="23317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800" b="1">
                <a:solidFill>
                  <a:srgbClr val="080D1C"/>
                </a:solidFill>
                <a:latin typeface="Georgia"/>
              </a:defRPr>
            </a:pPr>
            <a:r>
              <a:t>TANVI</a:t>
            </a:r>
          </a:p>
          <a:p>
            <a:pPr algn="ctr">
              <a:spcAft>
                <a:spcPts val="600"/>
              </a:spcAft>
              <a:defRPr sz="1100" b="1">
                <a:solidFill>
                  <a:srgbClr val="E7193F"/>
                </a:solidFill>
                <a:latin typeface="Arial"/>
              </a:defRPr>
            </a:pPr>
            <a:r>
              <a:t>PRESIDENT</a:t>
            </a:r>
          </a:p>
          <a:p>
            <a:pPr algn="ctr">
              <a:defRPr sz="1000">
                <a:solidFill>
                  <a:srgbClr val="646978"/>
                </a:solidFill>
                <a:latin typeface="Arial"/>
              </a:defRPr>
            </a:pPr>
            <a:r>
              <a:t>Executive Leadership &amp; Community Vision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051560"/>
            <a:ext cx="301752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van_pic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1188720" cy="1645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325880"/>
            <a:ext cx="1508760" cy="1463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800" b="1">
                <a:solidFill>
                  <a:srgbClr val="080D1C"/>
                </a:solidFill>
                <a:latin typeface="Georgia"/>
              </a:defRPr>
            </a:pPr>
            <a:r>
              <a:t>PAVAN</a:t>
            </a:r>
          </a:p>
          <a:p>
            <a:pPr>
              <a:defRPr sz="1100" b="1">
                <a:solidFill>
                  <a:srgbClr val="E7193F"/>
                </a:solidFill>
                <a:latin typeface="Arial"/>
              </a:defRPr>
            </a:pPr>
            <a:r>
              <a:t>VICE PRESIDENT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2039112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nish_pic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86199"/>
            <a:ext cx="1673352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760719"/>
            <a:ext cx="2039112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300" b="1">
                <a:solidFill>
                  <a:srgbClr val="080D1C"/>
                </a:solidFill>
                <a:latin typeface="Georgia"/>
              </a:defRPr>
            </a:pPr>
            <a:r>
              <a:t>TANISH</a:t>
            </a:r>
          </a:p>
          <a:p>
            <a:pPr algn="ctr">
              <a:defRPr sz="850" b="1">
                <a:solidFill>
                  <a:srgbClr val="E7193F"/>
                </a:solidFill>
                <a:latin typeface="Arial"/>
              </a:defRPr>
            </a:pPr>
            <a:r>
              <a:t>GENERAL SECRETARY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98648" y="3749039"/>
            <a:ext cx="2039112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kshita_pic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528" y="3886199"/>
            <a:ext cx="1673352" cy="1828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898648" y="5760719"/>
            <a:ext cx="2039112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300" b="1">
                <a:solidFill>
                  <a:srgbClr val="080D1C"/>
                </a:solidFill>
                <a:latin typeface="Georgia"/>
              </a:defRPr>
            </a:pPr>
            <a:r>
              <a:t>AKSHITA</a:t>
            </a:r>
          </a:p>
          <a:p>
            <a:pPr algn="ctr">
              <a:defRPr sz="850" b="1">
                <a:solidFill>
                  <a:srgbClr val="E7193F"/>
                </a:solidFill>
                <a:latin typeface="Arial"/>
              </a:defRPr>
            </a:pPr>
            <a:r>
              <a:t>CREATIVE LEAD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5776" y="3749039"/>
            <a:ext cx="2039112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aasini_pic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8656" y="3886199"/>
            <a:ext cx="1673352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65776" y="5760719"/>
            <a:ext cx="2039112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300" b="1">
                <a:solidFill>
                  <a:srgbClr val="080D1C"/>
                </a:solidFill>
                <a:latin typeface="Georgia"/>
              </a:defRPr>
            </a:pPr>
            <a:r>
              <a:t>HAASINI</a:t>
            </a:r>
          </a:p>
          <a:p>
            <a:pPr algn="ctr">
              <a:defRPr sz="850" b="1">
                <a:solidFill>
                  <a:srgbClr val="E7193F"/>
                </a:solidFill>
                <a:latin typeface="Arial"/>
              </a:defRPr>
            </a:pPr>
            <a:r>
              <a:t>OPERATIONS LEAD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32904" y="3749039"/>
            <a:ext cx="2039112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keshav_pic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5784" y="3886199"/>
            <a:ext cx="1673352" cy="1828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232904" y="5760719"/>
            <a:ext cx="2039112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300" b="1">
                <a:solidFill>
                  <a:srgbClr val="080D1C"/>
                </a:solidFill>
                <a:latin typeface="Georgia"/>
              </a:defRPr>
            </a:pPr>
            <a:r>
              <a:t>KESHAV</a:t>
            </a:r>
          </a:p>
          <a:p>
            <a:pPr algn="ctr">
              <a:defRPr sz="850" b="1">
                <a:solidFill>
                  <a:srgbClr val="E7193F"/>
                </a:solidFill>
                <a:latin typeface="Arial"/>
              </a:defRPr>
            </a:pPr>
            <a:r>
              <a:t>TREASURER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00032" y="3749039"/>
            <a:ext cx="2039112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anya_pic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2912" y="3886199"/>
            <a:ext cx="1673352" cy="1828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400032" y="5760719"/>
            <a:ext cx="2039112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300" b="1">
                <a:solidFill>
                  <a:srgbClr val="080D1C"/>
                </a:solidFill>
                <a:latin typeface="Georgia"/>
              </a:defRPr>
            </a:pPr>
            <a:r>
              <a:t>MANYA</a:t>
            </a:r>
          </a:p>
          <a:p>
            <a:pPr algn="ctr">
              <a:defRPr sz="850" b="1">
                <a:solidFill>
                  <a:srgbClr val="E7193F"/>
                </a:solidFill>
                <a:latin typeface="Arial"/>
              </a:defRPr>
            </a:pPr>
            <a:r>
              <a:t>WEB &amp; SOCIAL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E7193F"/>
                </a:solidFill>
                <a:latin typeface="Arial"/>
              </a:defRPr>
            </a:pPr>
            <a:r>
              <a:t>—  ACT VI — CONNECT WITH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600" b="1">
                <a:solidFill>
                  <a:srgbClr val="080D1C"/>
                </a:solidFill>
                <a:latin typeface="Georgia"/>
              </a:defRPr>
            </a:pPr>
            <a:r>
              <a:t>BE A PART OF THE CONVERSATION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45720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sta_qr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00200"/>
            <a:ext cx="310896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4800600"/>
            <a:ext cx="4572000" cy="12801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400" b="1">
                <a:solidFill>
                  <a:srgbClr val="E7193F"/>
                </a:solidFill>
                <a:latin typeface="Arial"/>
              </a:defRPr>
            </a:pPr>
            <a:r>
              <a:t>INSTAGRAM</a:t>
            </a:r>
          </a:p>
          <a:p>
            <a:pPr algn="ctr">
              <a:defRPr sz="1800" b="1">
                <a:solidFill>
                  <a:srgbClr val="080D1C"/>
                </a:solidFill>
                <a:latin typeface="Georgia"/>
              </a:defRPr>
            </a:pPr>
            <a:r>
              <a:t>@rahat.mitb</a:t>
            </a:r>
          </a:p>
          <a:p>
            <a:pPr algn="ctr">
              <a:defRPr sz="1000">
                <a:solidFill>
                  <a:srgbClr val="646978"/>
                </a:solidFill>
                <a:latin typeface="Arial"/>
              </a:defRPr>
            </a:pPr>
            <a:r>
              <a:t>Follow for stories, event updates, reels &amp; community initiatives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22415" y="1371600"/>
            <a:ext cx="45720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inkedin_qr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935" y="1600200"/>
            <a:ext cx="3108960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22415" y="4800600"/>
            <a:ext cx="4572000" cy="12801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400" b="1">
                <a:solidFill>
                  <a:srgbClr val="E7193F"/>
                </a:solidFill>
                <a:latin typeface="Arial"/>
              </a:defRPr>
            </a:pPr>
            <a:r>
              <a:t>LINKEDIN</a:t>
            </a:r>
          </a:p>
          <a:p>
            <a:pPr algn="ctr">
              <a:defRPr sz="1800" b="1">
                <a:solidFill>
                  <a:srgbClr val="080D1C"/>
                </a:solidFill>
                <a:latin typeface="Georgia"/>
              </a:defRPr>
            </a:pPr>
            <a:r>
              <a:t>Rahat MIT Bengaluru</a:t>
            </a:r>
          </a:p>
          <a:p>
            <a:pPr algn="ctr">
              <a:defRPr sz="1000">
                <a:solidFill>
                  <a:srgbClr val="646978"/>
                </a:solidFill>
                <a:latin typeface="Arial"/>
              </a:defRPr>
            </a:pPr>
            <a:r>
              <a:t>Connect for collaborations, panels &amp; student leadership networks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ahat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390" y="914400"/>
            <a:ext cx="2286000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474720"/>
            <a:ext cx="10362895" cy="2926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800"/>
              </a:spcAft>
              <a:defRPr sz="4400" b="1">
                <a:solidFill>
                  <a:srgbClr val="080D1C"/>
                </a:solidFill>
                <a:latin typeface="Georgia"/>
              </a:defRPr>
            </a:pPr>
            <a:r>
              <a:t>“MAKING SPACE”</a:t>
            </a:r>
          </a:p>
          <a:p>
            <a:pPr algn="ctr">
              <a:spcAft>
                <a:spcPts val="1400"/>
              </a:spcAft>
              <a:defRPr sz="2600" i="1">
                <a:solidFill>
                  <a:srgbClr val="E7193F"/>
                </a:solidFill>
                <a:latin typeface="Georgia"/>
              </a:defRPr>
            </a:pPr>
            <a:r>
              <a:t>Rahat to all.</a:t>
            </a:r>
          </a:p>
          <a:p>
            <a:pPr algn="ctr">
              <a:defRPr sz="1200" b="1">
                <a:solidFill>
                  <a:srgbClr val="646978"/>
                </a:solidFill>
                <a:latin typeface="Arial"/>
              </a:defRPr>
            </a:pPr>
            <a:r>
              <a:t>mitbengaluru.rahat@gmail.com  •  MIT Bengaluru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